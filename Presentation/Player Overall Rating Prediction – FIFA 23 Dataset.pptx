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37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1138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74B3B-2600-4A73-5EE9-7F34EEEDC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7CD87-E7F6-F42B-C6FF-B57E3B795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B638B-9C90-5A2C-8690-B3FC4EF65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482D1-8C13-429A-136A-A754A3346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861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1.png"/><Relationship Id="rId21" Type="http://schemas.openxmlformats.org/officeDocument/2006/relationships/image" Target="../media/image46.png"/><Relationship Id="rId7" Type="http://schemas.openxmlformats.org/officeDocument/2006/relationships/image" Target="../media/image15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24" Type="http://schemas.openxmlformats.org/officeDocument/2006/relationships/image" Target="../media/image30.png"/><Relationship Id="rId5" Type="http://schemas.openxmlformats.org/officeDocument/2006/relationships/image" Target="../media/image31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12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30.png"/><Relationship Id="rId4" Type="http://schemas.openxmlformats.org/officeDocument/2006/relationships/image" Target="../media/image12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3" Type="http://schemas.openxmlformats.org/officeDocument/2006/relationships/image" Target="../media/image1.png"/><Relationship Id="rId21" Type="http://schemas.openxmlformats.org/officeDocument/2006/relationships/image" Target="../media/image75.png"/><Relationship Id="rId7" Type="http://schemas.openxmlformats.org/officeDocument/2006/relationships/image" Target="../media/image15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65.png"/><Relationship Id="rId5" Type="http://schemas.openxmlformats.org/officeDocument/2006/relationships/image" Target="../media/image31.png"/><Relationship Id="rId15" Type="http://schemas.openxmlformats.org/officeDocument/2006/relationships/image" Target="../media/image69.png"/><Relationship Id="rId23" Type="http://schemas.openxmlformats.org/officeDocument/2006/relationships/image" Target="../media/image30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4" Type="http://schemas.openxmlformats.org/officeDocument/2006/relationships/image" Target="../media/image12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Relationship Id="rId22" Type="http://schemas.openxmlformats.org/officeDocument/2006/relationships/image" Target="../media/image76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26" Type="http://schemas.openxmlformats.org/officeDocument/2006/relationships/image" Target="../media/image93.png"/><Relationship Id="rId3" Type="http://schemas.openxmlformats.org/officeDocument/2006/relationships/image" Target="../media/image1.png"/><Relationship Id="rId21" Type="http://schemas.openxmlformats.org/officeDocument/2006/relationships/image" Target="../media/image90.png"/><Relationship Id="rId7" Type="http://schemas.openxmlformats.org/officeDocument/2006/relationships/image" Target="../media/image15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5" Type="http://schemas.openxmlformats.org/officeDocument/2006/relationships/image" Target="../media/image92.png"/><Relationship Id="rId3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29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80.png"/><Relationship Id="rId24" Type="http://schemas.openxmlformats.org/officeDocument/2006/relationships/image" Target="../media/image63.png"/><Relationship Id="rId32" Type="http://schemas.openxmlformats.org/officeDocument/2006/relationships/image" Target="../media/image98.png"/><Relationship Id="rId5" Type="http://schemas.openxmlformats.org/officeDocument/2006/relationships/image" Target="../media/image13.png"/><Relationship Id="rId15" Type="http://schemas.openxmlformats.org/officeDocument/2006/relationships/image" Target="../media/image84.png"/><Relationship Id="rId23" Type="http://schemas.openxmlformats.org/officeDocument/2006/relationships/image" Target="../media/image91.png"/><Relationship Id="rId28" Type="http://schemas.openxmlformats.org/officeDocument/2006/relationships/image" Target="../media/image94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31" Type="http://schemas.openxmlformats.org/officeDocument/2006/relationships/image" Target="../media/image97.png"/><Relationship Id="rId4" Type="http://schemas.openxmlformats.org/officeDocument/2006/relationships/image" Target="../media/image12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Relationship Id="rId22" Type="http://schemas.openxmlformats.org/officeDocument/2006/relationships/image" Target="../media/image68.png"/><Relationship Id="rId27" Type="http://schemas.openxmlformats.org/officeDocument/2006/relationships/image" Target="../media/image64.png"/><Relationship Id="rId30" Type="http://schemas.openxmlformats.org/officeDocument/2006/relationships/image" Target="../media/image96.png"/><Relationship Id="rId8" Type="http://schemas.openxmlformats.org/officeDocument/2006/relationships/image" Target="../media/image7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3" Type="http://schemas.openxmlformats.org/officeDocument/2006/relationships/image" Target="../media/image1.png"/><Relationship Id="rId21" Type="http://schemas.openxmlformats.org/officeDocument/2006/relationships/image" Target="../media/image112.png"/><Relationship Id="rId7" Type="http://schemas.openxmlformats.org/officeDocument/2006/relationships/image" Target="../media/image15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02.png"/><Relationship Id="rId24" Type="http://schemas.openxmlformats.org/officeDocument/2006/relationships/image" Target="../media/image30.png"/><Relationship Id="rId5" Type="http://schemas.openxmlformats.org/officeDocument/2006/relationships/image" Target="../media/image13.png"/><Relationship Id="rId15" Type="http://schemas.openxmlformats.org/officeDocument/2006/relationships/image" Target="../media/image106.png"/><Relationship Id="rId23" Type="http://schemas.openxmlformats.org/officeDocument/2006/relationships/image" Target="../media/image114.png"/><Relationship Id="rId10" Type="http://schemas.openxmlformats.org/officeDocument/2006/relationships/image" Target="../media/image101.png"/><Relationship Id="rId19" Type="http://schemas.openxmlformats.org/officeDocument/2006/relationships/image" Target="../media/image110.png"/><Relationship Id="rId4" Type="http://schemas.openxmlformats.org/officeDocument/2006/relationships/image" Target="../media/image12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Relationship Id="rId22" Type="http://schemas.openxmlformats.org/officeDocument/2006/relationships/image" Target="../media/image1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26" Type="http://schemas.openxmlformats.org/officeDocument/2006/relationships/image" Target="../media/image133.png"/><Relationship Id="rId3" Type="http://schemas.openxmlformats.org/officeDocument/2006/relationships/image" Target="../media/image1.png"/><Relationship Id="rId21" Type="http://schemas.openxmlformats.org/officeDocument/2006/relationships/image" Target="../media/image128.png"/><Relationship Id="rId7" Type="http://schemas.openxmlformats.org/officeDocument/2006/relationships/image" Target="../media/image15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5" Type="http://schemas.openxmlformats.org/officeDocument/2006/relationships/image" Target="../media/image13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3.png"/><Relationship Id="rId20" Type="http://schemas.openxmlformats.org/officeDocument/2006/relationships/image" Target="../media/image127.png"/><Relationship Id="rId29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18.png"/><Relationship Id="rId24" Type="http://schemas.openxmlformats.org/officeDocument/2006/relationships/image" Target="../media/image131.png"/><Relationship Id="rId5" Type="http://schemas.openxmlformats.org/officeDocument/2006/relationships/image" Target="../media/image13.png"/><Relationship Id="rId15" Type="http://schemas.openxmlformats.org/officeDocument/2006/relationships/image" Target="../media/image122.png"/><Relationship Id="rId23" Type="http://schemas.openxmlformats.org/officeDocument/2006/relationships/image" Target="../media/image130.png"/><Relationship Id="rId28" Type="http://schemas.openxmlformats.org/officeDocument/2006/relationships/image" Target="../media/image135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31" Type="http://schemas.openxmlformats.org/officeDocument/2006/relationships/image" Target="../media/image30.png"/><Relationship Id="rId4" Type="http://schemas.openxmlformats.org/officeDocument/2006/relationships/image" Target="../media/image12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Relationship Id="rId22" Type="http://schemas.openxmlformats.org/officeDocument/2006/relationships/image" Target="../media/image129.png"/><Relationship Id="rId27" Type="http://schemas.openxmlformats.org/officeDocument/2006/relationships/image" Target="../media/image134.png"/><Relationship Id="rId30" Type="http://schemas.openxmlformats.org/officeDocument/2006/relationships/image" Target="../media/image1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18" Type="http://schemas.openxmlformats.org/officeDocument/2006/relationships/image" Target="../media/image149.png"/><Relationship Id="rId26" Type="http://schemas.openxmlformats.org/officeDocument/2006/relationships/image" Target="../media/image30.png"/><Relationship Id="rId3" Type="http://schemas.openxmlformats.org/officeDocument/2006/relationships/image" Target="../media/image1.png"/><Relationship Id="rId21" Type="http://schemas.openxmlformats.org/officeDocument/2006/relationships/image" Target="../media/image152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5" Type="http://schemas.openxmlformats.org/officeDocument/2006/relationships/image" Target="../media/image15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7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42.png"/><Relationship Id="rId24" Type="http://schemas.openxmlformats.org/officeDocument/2006/relationships/image" Target="../media/image155.png"/><Relationship Id="rId5" Type="http://schemas.openxmlformats.org/officeDocument/2006/relationships/image" Target="../media/image13.png"/><Relationship Id="rId15" Type="http://schemas.openxmlformats.org/officeDocument/2006/relationships/image" Target="../media/image146.png"/><Relationship Id="rId23" Type="http://schemas.openxmlformats.org/officeDocument/2006/relationships/image" Target="../media/image154.png"/><Relationship Id="rId10" Type="http://schemas.openxmlformats.org/officeDocument/2006/relationships/image" Target="../media/image141.png"/><Relationship Id="rId19" Type="http://schemas.openxmlformats.org/officeDocument/2006/relationships/image" Target="../media/image150.png"/><Relationship Id="rId4" Type="http://schemas.openxmlformats.org/officeDocument/2006/relationships/image" Target="../media/image12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Relationship Id="rId22" Type="http://schemas.openxmlformats.org/officeDocument/2006/relationships/image" Target="../media/image1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2.png"/><Relationship Id="rId18" Type="http://schemas.openxmlformats.org/officeDocument/2006/relationships/image" Target="../media/image167.png"/><Relationship Id="rId26" Type="http://schemas.openxmlformats.org/officeDocument/2006/relationships/image" Target="../media/image175.png"/><Relationship Id="rId3" Type="http://schemas.openxmlformats.org/officeDocument/2006/relationships/image" Target="../media/image1.png"/><Relationship Id="rId21" Type="http://schemas.openxmlformats.org/officeDocument/2006/relationships/image" Target="../media/image170.png"/><Relationship Id="rId7" Type="http://schemas.openxmlformats.org/officeDocument/2006/relationships/image" Target="../media/image15.png"/><Relationship Id="rId12" Type="http://schemas.openxmlformats.org/officeDocument/2006/relationships/image" Target="../media/image161.png"/><Relationship Id="rId17" Type="http://schemas.openxmlformats.org/officeDocument/2006/relationships/image" Target="../media/image166.png"/><Relationship Id="rId25" Type="http://schemas.openxmlformats.org/officeDocument/2006/relationships/image" Target="../media/image174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65.png"/><Relationship Id="rId20" Type="http://schemas.openxmlformats.org/officeDocument/2006/relationships/image" Target="../media/image1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60.png"/><Relationship Id="rId24" Type="http://schemas.openxmlformats.org/officeDocument/2006/relationships/image" Target="../media/image173.png"/><Relationship Id="rId5" Type="http://schemas.openxmlformats.org/officeDocument/2006/relationships/image" Target="../media/image13.png"/><Relationship Id="rId15" Type="http://schemas.openxmlformats.org/officeDocument/2006/relationships/image" Target="../media/image164.png"/><Relationship Id="rId23" Type="http://schemas.openxmlformats.org/officeDocument/2006/relationships/image" Target="../media/image172.png"/><Relationship Id="rId10" Type="http://schemas.openxmlformats.org/officeDocument/2006/relationships/image" Target="../media/image159.png"/><Relationship Id="rId19" Type="http://schemas.openxmlformats.org/officeDocument/2006/relationships/image" Target="../media/image168.png"/><Relationship Id="rId4" Type="http://schemas.openxmlformats.org/officeDocument/2006/relationships/image" Target="../media/image12.png"/><Relationship Id="rId9" Type="http://schemas.openxmlformats.org/officeDocument/2006/relationships/image" Target="../media/image158.png"/><Relationship Id="rId14" Type="http://schemas.openxmlformats.org/officeDocument/2006/relationships/image" Target="../media/image163.png"/><Relationship Id="rId22" Type="http://schemas.openxmlformats.org/officeDocument/2006/relationships/image" Target="../media/image171.png"/><Relationship Id="rId27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81.png"/><Relationship Id="rId18" Type="http://schemas.openxmlformats.org/officeDocument/2006/relationships/image" Target="../media/image186.png"/><Relationship Id="rId3" Type="http://schemas.openxmlformats.org/officeDocument/2006/relationships/image" Target="../media/image1.png"/><Relationship Id="rId21" Type="http://schemas.openxmlformats.org/officeDocument/2006/relationships/image" Target="../media/image189.png"/><Relationship Id="rId7" Type="http://schemas.openxmlformats.org/officeDocument/2006/relationships/image" Target="../media/image15.png"/><Relationship Id="rId12" Type="http://schemas.openxmlformats.org/officeDocument/2006/relationships/image" Target="../media/image180.png"/><Relationship Id="rId17" Type="http://schemas.openxmlformats.org/officeDocument/2006/relationships/image" Target="../media/image185.png"/><Relationship Id="rId25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84.png"/><Relationship Id="rId20" Type="http://schemas.openxmlformats.org/officeDocument/2006/relationships/image" Target="../media/image1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79.png"/><Relationship Id="rId24" Type="http://schemas.openxmlformats.org/officeDocument/2006/relationships/image" Target="../media/image192.png"/><Relationship Id="rId5" Type="http://schemas.openxmlformats.org/officeDocument/2006/relationships/image" Target="../media/image13.png"/><Relationship Id="rId15" Type="http://schemas.openxmlformats.org/officeDocument/2006/relationships/image" Target="../media/image183.png"/><Relationship Id="rId23" Type="http://schemas.openxmlformats.org/officeDocument/2006/relationships/image" Target="../media/image191.png"/><Relationship Id="rId10" Type="http://schemas.openxmlformats.org/officeDocument/2006/relationships/image" Target="../media/image178.png"/><Relationship Id="rId19" Type="http://schemas.openxmlformats.org/officeDocument/2006/relationships/image" Target="../media/image187.png"/><Relationship Id="rId4" Type="http://schemas.openxmlformats.org/officeDocument/2006/relationships/image" Target="../media/image12.png"/><Relationship Id="rId9" Type="http://schemas.openxmlformats.org/officeDocument/2006/relationships/image" Target="../media/image177.png"/><Relationship Id="rId14" Type="http://schemas.openxmlformats.org/officeDocument/2006/relationships/image" Target="../media/image182.png"/><Relationship Id="rId22" Type="http://schemas.openxmlformats.org/officeDocument/2006/relationships/image" Target="../media/image19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13" Type="http://schemas.openxmlformats.org/officeDocument/2006/relationships/image" Target="../media/image198.png"/><Relationship Id="rId1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138.png"/><Relationship Id="rId12" Type="http://schemas.openxmlformats.org/officeDocument/2006/relationships/image" Target="../media/image197.png"/><Relationship Id="rId17" Type="http://schemas.openxmlformats.org/officeDocument/2006/relationships/image" Target="../media/image202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6.png"/><Relationship Id="rId5" Type="http://schemas.openxmlformats.org/officeDocument/2006/relationships/image" Target="../media/image13.png"/><Relationship Id="rId15" Type="http://schemas.openxmlformats.org/officeDocument/2006/relationships/image" Target="../media/image200.png"/><Relationship Id="rId10" Type="http://schemas.openxmlformats.org/officeDocument/2006/relationships/image" Target="../media/image195.png"/><Relationship Id="rId4" Type="http://schemas.openxmlformats.org/officeDocument/2006/relationships/image" Target="../media/image12.png"/><Relationship Id="rId9" Type="http://schemas.openxmlformats.org/officeDocument/2006/relationships/image" Target="../media/image194.png"/><Relationship Id="rId14" Type="http://schemas.openxmlformats.org/officeDocument/2006/relationships/image" Target="../media/image19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image" Target="../media/image207.png"/><Relationship Id="rId3" Type="http://schemas.openxmlformats.org/officeDocument/2006/relationships/image" Target="../media/image1.png"/><Relationship Id="rId7" Type="http://schemas.openxmlformats.org/officeDocument/2006/relationships/image" Target="../media/image138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06.png"/><Relationship Id="rId5" Type="http://schemas.openxmlformats.org/officeDocument/2006/relationships/image" Target="../media/image13.png"/><Relationship Id="rId15" Type="http://schemas.openxmlformats.org/officeDocument/2006/relationships/image" Target="../media/image30.png"/><Relationship Id="rId10" Type="http://schemas.openxmlformats.org/officeDocument/2006/relationships/image" Target="../media/image205.png"/><Relationship Id="rId4" Type="http://schemas.openxmlformats.org/officeDocument/2006/relationships/image" Target="../media/image12.png"/><Relationship Id="rId9" Type="http://schemas.openxmlformats.org/officeDocument/2006/relationships/image" Target="../media/image204.png"/><Relationship Id="rId14" Type="http://schemas.openxmlformats.org/officeDocument/2006/relationships/image" Target="../media/image20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image" Target="../media/image216.png"/><Relationship Id="rId18" Type="http://schemas.openxmlformats.org/officeDocument/2006/relationships/image" Target="../media/image221.png"/><Relationship Id="rId3" Type="http://schemas.openxmlformats.org/officeDocument/2006/relationships/image" Target="../media/image1.png"/><Relationship Id="rId21" Type="http://schemas.openxmlformats.org/officeDocument/2006/relationships/image" Target="../media/image224.png"/><Relationship Id="rId7" Type="http://schemas.openxmlformats.org/officeDocument/2006/relationships/image" Target="../media/image15.png"/><Relationship Id="rId12" Type="http://schemas.openxmlformats.org/officeDocument/2006/relationships/image" Target="../media/image215.png"/><Relationship Id="rId17" Type="http://schemas.openxmlformats.org/officeDocument/2006/relationships/image" Target="../media/image22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19.png"/><Relationship Id="rId20" Type="http://schemas.openxmlformats.org/officeDocument/2006/relationships/image" Target="../media/image2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11" Type="http://schemas.openxmlformats.org/officeDocument/2006/relationships/image" Target="../media/image214.png"/><Relationship Id="rId5" Type="http://schemas.openxmlformats.org/officeDocument/2006/relationships/image" Target="../media/image209.png"/><Relationship Id="rId15" Type="http://schemas.openxmlformats.org/officeDocument/2006/relationships/image" Target="../media/image218.png"/><Relationship Id="rId10" Type="http://schemas.openxmlformats.org/officeDocument/2006/relationships/image" Target="../media/image213.png"/><Relationship Id="rId19" Type="http://schemas.openxmlformats.org/officeDocument/2006/relationships/image" Target="../media/image222.png"/><Relationship Id="rId4" Type="http://schemas.openxmlformats.org/officeDocument/2006/relationships/image" Target="../media/image12.png"/><Relationship Id="rId9" Type="http://schemas.openxmlformats.org/officeDocument/2006/relationships/image" Target="../media/image212.png"/><Relationship Id="rId14" Type="http://schemas.openxmlformats.org/officeDocument/2006/relationships/image" Target="../media/image217.png"/><Relationship Id="rId22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13" Type="http://schemas.openxmlformats.org/officeDocument/2006/relationships/image" Target="../media/image230.png"/><Relationship Id="rId18" Type="http://schemas.openxmlformats.org/officeDocument/2006/relationships/image" Target="../media/image235.png"/><Relationship Id="rId3" Type="http://schemas.openxmlformats.org/officeDocument/2006/relationships/image" Target="../media/image1.png"/><Relationship Id="rId21" Type="http://schemas.openxmlformats.org/officeDocument/2006/relationships/image" Target="../media/image238.png"/><Relationship Id="rId7" Type="http://schemas.openxmlformats.org/officeDocument/2006/relationships/image" Target="../media/image15.png"/><Relationship Id="rId12" Type="http://schemas.openxmlformats.org/officeDocument/2006/relationships/image" Target="../media/image229.png"/><Relationship Id="rId17" Type="http://schemas.openxmlformats.org/officeDocument/2006/relationships/image" Target="../media/image234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33.png"/><Relationship Id="rId20" Type="http://schemas.openxmlformats.org/officeDocument/2006/relationships/image" Target="../media/image2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228.png"/><Relationship Id="rId5" Type="http://schemas.openxmlformats.org/officeDocument/2006/relationships/image" Target="../media/image31.png"/><Relationship Id="rId15" Type="http://schemas.openxmlformats.org/officeDocument/2006/relationships/image" Target="../media/image232.png"/><Relationship Id="rId23" Type="http://schemas.openxmlformats.org/officeDocument/2006/relationships/image" Target="../media/image30.png"/><Relationship Id="rId10" Type="http://schemas.openxmlformats.org/officeDocument/2006/relationships/image" Target="../media/image227.png"/><Relationship Id="rId19" Type="http://schemas.openxmlformats.org/officeDocument/2006/relationships/image" Target="../media/image236.png"/><Relationship Id="rId4" Type="http://schemas.openxmlformats.org/officeDocument/2006/relationships/image" Target="../media/image12.png"/><Relationship Id="rId9" Type="http://schemas.openxmlformats.org/officeDocument/2006/relationships/image" Target="../media/image226.png"/><Relationship Id="rId14" Type="http://schemas.openxmlformats.org/officeDocument/2006/relationships/image" Target="../media/image231.png"/><Relationship Id="rId22" Type="http://schemas.openxmlformats.org/officeDocument/2006/relationships/image" Target="../media/image23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13" Type="http://schemas.openxmlformats.org/officeDocument/2006/relationships/image" Target="../media/image232.png"/><Relationship Id="rId18" Type="http://schemas.openxmlformats.org/officeDocument/2006/relationships/image" Target="../media/image238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30.png"/><Relationship Id="rId17" Type="http://schemas.openxmlformats.org/officeDocument/2006/relationships/image" Target="../media/image237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35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229.png"/><Relationship Id="rId5" Type="http://schemas.openxmlformats.org/officeDocument/2006/relationships/image" Target="../media/image31.png"/><Relationship Id="rId15" Type="http://schemas.openxmlformats.org/officeDocument/2006/relationships/image" Target="../media/image234.png"/><Relationship Id="rId10" Type="http://schemas.openxmlformats.org/officeDocument/2006/relationships/image" Target="../media/image228.png"/><Relationship Id="rId19" Type="http://schemas.openxmlformats.org/officeDocument/2006/relationships/image" Target="../media/image239.png"/><Relationship Id="rId4" Type="http://schemas.openxmlformats.org/officeDocument/2006/relationships/image" Target="../media/image12.png"/><Relationship Id="rId9" Type="http://schemas.openxmlformats.org/officeDocument/2006/relationships/image" Target="../media/image227.png"/><Relationship Id="rId14" Type="http://schemas.openxmlformats.org/officeDocument/2006/relationships/image" Target="../media/image2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243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2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41.png"/><Relationship Id="rId5" Type="http://schemas.openxmlformats.org/officeDocument/2006/relationships/image" Target="../media/image13.png"/><Relationship Id="rId10" Type="http://schemas.openxmlformats.org/officeDocument/2006/relationships/image" Target="../media/image240.png"/><Relationship Id="rId4" Type="http://schemas.openxmlformats.org/officeDocument/2006/relationships/image" Target="../media/image12.png"/><Relationship Id="rId9" Type="http://schemas.openxmlformats.org/officeDocument/2006/relationships/image" Target="../media/image9.png"/><Relationship Id="rId1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2476500"/>
            <a:ext cx="1905000" cy="190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762000"/>
            <a:ext cx="114300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1700" y="5353050"/>
            <a:ext cx="114300" cy="285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7500" y="152400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51435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1062" y="1847850"/>
            <a:ext cx="9489877" cy="3162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8800" y="3409950"/>
            <a:ext cx="914400" cy="38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705600"/>
            <a:ext cx="121920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38100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25250" y="6134100"/>
            <a:ext cx="285750" cy="3429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1133594" y="2228850"/>
            <a:ext cx="992481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Player Overall Rating Prediction</a:t>
            </a:r>
            <a:endParaRPr lang="en-US" sz="3600" dirty="0"/>
          </a:p>
        </p:txBody>
      </p:sp>
      <p:sp>
        <p:nvSpPr>
          <p:cNvPr id="15" name="Text 1"/>
          <p:cNvSpPr/>
          <p:nvPr/>
        </p:nvSpPr>
        <p:spPr>
          <a:xfrm>
            <a:off x="1133594" y="2838450"/>
            <a:ext cx="992481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FIFA 23 Dataset</a:t>
            </a:r>
            <a:endParaRPr lang="en-US" sz="2250" dirty="0"/>
          </a:p>
        </p:txBody>
      </p:sp>
      <p:sp>
        <p:nvSpPr>
          <p:cNvPr id="16" name="Text 2"/>
          <p:cNvSpPr/>
          <p:nvPr/>
        </p:nvSpPr>
        <p:spPr>
          <a:xfrm>
            <a:off x="1133594" y="3676650"/>
            <a:ext cx="992481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"Using ML to predict a football player's overall rating based on attributes."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1960662" y="4324350"/>
            <a:ext cx="827067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[</a:t>
            </a:r>
            <a:r>
              <a:rPr lang="en-US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Mazen Hisham</a:t>
            </a:r>
            <a:r>
              <a:rPr lang="en-US" sz="1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125" y="7620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54959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33350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590925"/>
            <a:ext cx="28575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010025"/>
            <a:ext cx="5334000" cy="103346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4662488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31057" y="4662488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5289" y="4662488"/>
            <a:ext cx="1905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0" y="1295400"/>
            <a:ext cx="5638800" cy="5105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1333500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255270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2971800"/>
            <a:ext cx="5334000" cy="800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3162300"/>
            <a:ext cx="142875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924300"/>
            <a:ext cx="5334000" cy="800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3200" y="41148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4876800"/>
            <a:ext cx="5334000" cy="800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3200" y="506730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2286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800100" y="1295400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 Context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457200" y="1752600"/>
            <a:ext cx="5334000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Player ratings are critical in professional football, influencing:</a:t>
            </a:r>
            <a:endParaRPr lang="en-US" sz="1500" dirty="0"/>
          </a:p>
        </p:txBody>
      </p:sp>
      <p:sp>
        <p:nvSpPr>
          <p:cNvPr id="26" name="Text 3"/>
          <p:cNvSpPr/>
          <p:nvPr/>
        </p:nvSpPr>
        <p:spPr>
          <a:xfrm>
            <a:off x="495300" y="2447925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Scouting decisions</a:t>
            </a:r>
            <a:endParaRPr lang="en-US" sz="1500" dirty="0"/>
          </a:p>
        </p:txBody>
      </p:sp>
      <p:sp>
        <p:nvSpPr>
          <p:cNvPr id="27" name="Text 4"/>
          <p:cNvSpPr/>
          <p:nvPr/>
        </p:nvSpPr>
        <p:spPr>
          <a:xfrm>
            <a:off x="495300" y="2714625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Player salary negotiations</a:t>
            </a:r>
            <a:endParaRPr lang="en-US" sz="1500" dirty="0"/>
          </a:p>
        </p:txBody>
      </p:sp>
      <p:sp>
        <p:nvSpPr>
          <p:cNvPr id="28" name="Text 5"/>
          <p:cNvSpPr/>
          <p:nvPr/>
        </p:nvSpPr>
        <p:spPr>
          <a:xfrm>
            <a:off x="495300" y="2981325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Transfer market valuations</a:t>
            </a:r>
            <a:endParaRPr lang="en-US" sz="1500" dirty="0"/>
          </a:p>
        </p:txBody>
      </p:sp>
      <p:sp>
        <p:nvSpPr>
          <p:cNvPr id="29" name="Text 6"/>
          <p:cNvSpPr/>
          <p:nvPr/>
        </p:nvSpPr>
        <p:spPr>
          <a:xfrm>
            <a:off x="857250" y="3552825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0" name="Text 7"/>
          <p:cNvSpPr/>
          <p:nvPr/>
        </p:nvSpPr>
        <p:spPr>
          <a:xfrm>
            <a:off x="647700" y="4200525"/>
            <a:ext cx="5943600" cy="3095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Traditional manual assessment methods are:</a:t>
            </a:r>
            <a:endParaRPr lang="en-US" sz="1500" dirty="0"/>
          </a:p>
        </p:txBody>
      </p:sp>
      <p:sp>
        <p:nvSpPr>
          <p:cNvPr id="31" name="Text 8"/>
          <p:cNvSpPr/>
          <p:nvPr/>
        </p:nvSpPr>
        <p:spPr>
          <a:xfrm>
            <a:off x="876300" y="4624388"/>
            <a:ext cx="111138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Inconsistent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2240607" y="4624388"/>
            <a:ext cx="9552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Subjective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3531989" y="4624388"/>
            <a:ext cx="6122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Biased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6743700" y="1295400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Goal</a:t>
            </a:r>
            <a:endParaRPr lang="en-US" sz="1800" dirty="0"/>
          </a:p>
        </p:txBody>
      </p:sp>
      <p:sp>
        <p:nvSpPr>
          <p:cNvPr id="35" name="Text 12"/>
          <p:cNvSpPr/>
          <p:nvPr/>
        </p:nvSpPr>
        <p:spPr>
          <a:xfrm>
            <a:off x="6400800" y="1752600"/>
            <a:ext cx="5334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 a machine learning model to predict FIFA player overall ratings.</a:t>
            </a:r>
            <a:endParaRPr lang="en-US" sz="1500" dirty="0"/>
          </a:p>
        </p:txBody>
      </p:sp>
      <p:sp>
        <p:nvSpPr>
          <p:cNvPr id="36" name="Text 13"/>
          <p:cNvSpPr/>
          <p:nvPr/>
        </p:nvSpPr>
        <p:spPr>
          <a:xfrm>
            <a:off x="6743700" y="2514600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</a:t>
            </a:r>
            <a:endParaRPr lang="en-US" sz="1800" dirty="0"/>
          </a:p>
        </p:txBody>
      </p:sp>
      <p:sp>
        <p:nvSpPr>
          <p:cNvPr id="37" name="Text 14"/>
          <p:cNvSpPr/>
          <p:nvPr/>
        </p:nvSpPr>
        <p:spPr>
          <a:xfrm>
            <a:off x="6848475" y="3124200"/>
            <a:ext cx="37156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Clubs estimate player value</a:t>
            </a:r>
            <a:endParaRPr lang="en-US" sz="1500" dirty="0"/>
          </a:p>
        </p:txBody>
      </p:sp>
      <p:sp>
        <p:nvSpPr>
          <p:cNvPr id="38" name="Text 15"/>
          <p:cNvSpPr/>
          <p:nvPr/>
        </p:nvSpPr>
        <p:spPr>
          <a:xfrm>
            <a:off x="6848475" y="3390900"/>
            <a:ext cx="37156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Objective measure for financial planning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6934200" y="4076700"/>
            <a:ext cx="35508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undervalued talent</a:t>
            </a:r>
            <a:endParaRPr lang="en-US" sz="1500" dirty="0"/>
          </a:p>
        </p:txBody>
      </p:sp>
      <p:sp>
        <p:nvSpPr>
          <p:cNvPr id="40" name="Text 17"/>
          <p:cNvSpPr/>
          <p:nvPr/>
        </p:nvSpPr>
        <p:spPr>
          <a:xfrm>
            <a:off x="6934200" y="4343400"/>
            <a:ext cx="35508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Discover overlooked potential</a:t>
            </a:r>
            <a:endParaRPr lang="en-US" sz="1200" dirty="0"/>
          </a:p>
        </p:txBody>
      </p:sp>
      <p:sp>
        <p:nvSpPr>
          <p:cNvPr id="41" name="Text 18"/>
          <p:cNvSpPr/>
          <p:nvPr/>
        </p:nvSpPr>
        <p:spPr>
          <a:xfrm>
            <a:off x="6934200" y="5029200"/>
            <a:ext cx="30598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decisions</a:t>
            </a:r>
            <a:endParaRPr lang="en-US" sz="1500" dirty="0"/>
          </a:p>
        </p:txBody>
      </p:sp>
      <p:sp>
        <p:nvSpPr>
          <p:cNvPr id="42" name="Text 19"/>
          <p:cNvSpPr/>
          <p:nvPr/>
        </p:nvSpPr>
        <p:spPr>
          <a:xfrm>
            <a:off x="6934200" y="5295900"/>
            <a:ext cx="30598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Evidence-based strategic choices</a:t>
            </a:r>
            <a:endParaRPr lang="en-US" sz="1200" dirty="0"/>
          </a:p>
        </p:txBody>
      </p:sp>
      <p:sp>
        <p:nvSpPr>
          <p:cNvPr id="43" name="Text 20"/>
          <p:cNvSpPr/>
          <p:nvPr/>
        </p:nvSpPr>
        <p:spPr>
          <a:xfrm>
            <a:off x="11663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2/16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5240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7125" y="51911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219200"/>
            <a:ext cx="5486400" cy="2362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695450"/>
            <a:ext cx="200025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152650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533650"/>
            <a:ext cx="238125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914650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1219200"/>
            <a:ext cx="5486400" cy="2362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1485900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67736" y="2057400"/>
            <a:ext cx="219075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07686" y="2057400"/>
            <a:ext cx="2476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98063" y="2057400"/>
            <a:ext cx="24765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3924300"/>
            <a:ext cx="257175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4343400"/>
            <a:ext cx="2743200" cy="1638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" y="44958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76600" y="4343400"/>
            <a:ext cx="2743200" cy="1638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29000" y="449580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72200" y="4343400"/>
            <a:ext cx="2743200" cy="1638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4495800"/>
            <a:ext cx="200025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67800" y="4343400"/>
            <a:ext cx="2743200" cy="16383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20200" y="4495800"/>
            <a:ext cx="257175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57200" y="2286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923925" y="1657350"/>
            <a:ext cx="5029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Source and Scale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914400" y="2114550"/>
            <a:ext cx="39360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Dataset: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FIFA 23 Players (Kaggle)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962025" y="2495550"/>
            <a:ext cx="27464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Rows: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~18,000 players</a:t>
            </a:r>
            <a:endParaRPr lang="en-US" sz="1500" dirty="0"/>
          </a:p>
        </p:txBody>
      </p:sp>
      <p:sp>
        <p:nvSpPr>
          <p:cNvPr id="31" name="Text 4"/>
          <p:cNvSpPr/>
          <p:nvPr/>
        </p:nvSpPr>
        <p:spPr>
          <a:xfrm>
            <a:off x="914400" y="2876550"/>
            <a:ext cx="29384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Columns: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20+ attributes</a:t>
            </a:r>
            <a:endParaRPr lang="en-US" sz="1500" dirty="0"/>
          </a:p>
        </p:txBody>
      </p:sp>
      <p:sp>
        <p:nvSpPr>
          <p:cNvPr id="32" name="Text 5"/>
          <p:cNvSpPr/>
          <p:nvPr/>
        </p:nvSpPr>
        <p:spPr>
          <a:xfrm>
            <a:off x="6896100" y="1447800"/>
            <a:ext cx="5029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Types</a:t>
            </a:r>
            <a:endParaRPr lang="en-US" sz="1800" dirty="0"/>
          </a:p>
        </p:txBody>
      </p:sp>
      <p:sp>
        <p:nvSpPr>
          <p:cNvPr id="33" name="Text 6"/>
          <p:cNvSpPr/>
          <p:nvPr/>
        </p:nvSpPr>
        <p:spPr>
          <a:xfrm>
            <a:off x="6551250" y="2476500"/>
            <a:ext cx="18521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Numerical</a:t>
            </a:r>
            <a:endParaRPr lang="en-US" sz="1500" dirty="0"/>
          </a:p>
        </p:txBody>
      </p:sp>
      <p:sp>
        <p:nvSpPr>
          <p:cNvPr id="34" name="Text 7"/>
          <p:cNvSpPr/>
          <p:nvPr/>
        </p:nvSpPr>
        <p:spPr>
          <a:xfrm>
            <a:off x="6705600" y="2743200"/>
            <a:ext cx="154349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Rating values, age, etc.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8418359" y="2476500"/>
            <a:ext cx="16264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Categorical</a:t>
            </a:r>
            <a:endParaRPr lang="en-US" sz="1500" dirty="0"/>
          </a:p>
        </p:txBody>
      </p:sp>
      <p:sp>
        <p:nvSpPr>
          <p:cNvPr id="36" name="Text 9"/>
          <p:cNvSpPr/>
          <p:nvPr/>
        </p:nvSpPr>
        <p:spPr>
          <a:xfrm>
            <a:off x="8553896" y="2743200"/>
            <a:ext cx="135537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Positions, nationality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10214074" y="2476500"/>
            <a:ext cx="12157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Text</a:t>
            </a:r>
            <a:endParaRPr lang="en-US" sz="1500" dirty="0"/>
          </a:p>
        </p:txBody>
      </p:sp>
      <p:sp>
        <p:nvSpPr>
          <p:cNvPr id="38" name="Text 11"/>
          <p:cNvSpPr/>
          <p:nvPr/>
        </p:nvSpPr>
        <p:spPr>
          <a:xfrm>
            <a:off x="10214074" y="2743200"/>
            <a:ext cx="121577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Player names, etc.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752475" y="3886200"/>
            <a:ext cx="11430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Contents</a:t>
            </a:r>
            <a:endParaRPr lang="en-US" sz="1800" dirty="0"/>
          </a:p>
        </p:txBody>
      </p:sp>
      <p:sp>
        <p:nvSpPr>
          <p:cNvPr id="40" name="Text 13"/>
          <p:cNvSpPr/>
          <p:nvPr/>
        </p:nvSpPr>
        <p:spPr>
          <a:xfrm>
            <a:off x="876300" y="4514850"/>
            <a:ext cx="18470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Demographics</a:t>
            </a:r>
            <a:endParaRPr lang="en-US" sz="1500" dirty="0"/>
          </a:p>
        </p:txBody>
      </p:sp>
      <p:sp>
        <p:nvSpPr>
          <p:cNvPr id="41" name="Text 14"/>
          <p:cNvSpPr/>
          <p:nvPr/>
        </p:nvSpPr>
        <p:spPr>
          <a:xfrm>
            <a:off x="571500" y="49149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571500" y="51435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Nationality</a:t>
            </a:r>
            <a:endParaRPr lang="en-US" sz="1200" dirty="0"/>
          </a:p>
        </p:txBody>
      </p:sp>
      <p:sp>
        <p:nvSpPr>
          <p:cNvPr id="43" name="Text 16"/>
          <p:cNvSpPr/>
          <p:nvPr/>
        </p:nvSpPr>
        <p:spPr>
          <a:xfrm>
            <a:off x="571500" y="53721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Height</a:t>
            </a:r>
            <a:endParaRPr lang="en-US" sz="1200" dirty="0"/>
          </a:p>
        </p:txBody>
      </p:sp>
      <p:sp>
        <p:nvSpPr>
          <p:cNvPr id="44" name="Text 17"/>
          <p:cNvSpPr/>
          <p:nvPr/>
        </p:nvSpPr>
        <p:spPr>
          <a:xfrm>
            <a:off x="571500" y="56007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Weight</a:t>
            </a:r>
            <a:endParaRPr lang="en-US" sz="1200" dirty="0"/>
          </a:p>
        </p:txBody>
      </p:sp>
      <p:sp>
        <p:nvSpPr>
          <p:cNvPr id="45" name="Text 18"/>
          <p:cNvSpPr/>
          <p:nvPr/>
        </p:nvSpPr>
        <p:spPr>
          <a:xfrm>
            <a:off x="3771900" y="4514850"/>
            <a:ext cx="165038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46" name="Text 19"/>
          <p:cNvSpPr/>
          <p:nvPr/>
        </p:nvSpPr>
        <p:spPr>
          <a:xfrm>
            <a:off x="3467100" y="4914900"/>
            <a:ext cx="2880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Overall rating</a:t>
            </a:r>
            <a:endParaRPr lang="en-US" sz="1200" dirty="0"/>
          </a:p>
        </p:txBody>
      </p:sp>
      <p:sp>
        <p:nvSpPr>
          <p:cNvPr id="47" name="Text 20"/>
          <p:cNvSpPr/>
          <p:nvPr/>
        </p:nvSpPr>
        <p:spPr>
          <a:xfrm>
            <a:off x="3467100" y="51435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Preferred Foot</a:t>
            </a:r>
            <a:endParaRPr lang="en-US" sz="1200" dirty="0"/>
          </a:p>
        </p:txBody>
      </p:sp>
      <p:sp>
        <p:nvSpPr>
          <p:cNvPr id="48" name="Text 21"/>
          <p:cNvSpPr/>
          <p:nvPr/>
        </p:nvSpPr>
        <p:spPr>
          <a:xfrm>
            <a:off x="3467100" y="53721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Skill Moves</a:t>
            </a:r>
            <a:endParaRPr lang="en-US" sz="1200" dirty="0"/>
          </a:p>
        </p:txBody>
      </p:sp>
      <p:sp>
        <p:nvSpPr>
          <p:cNvPr id="49" name="Text 22"/>
          <p:cNvSpPr/>
          <p:nvPr/>
        </p:nvSpPr>
        <p:spPr>
          <a:xfrm>
            <a:off x="3467100" y="56007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</a:rPr>
              <a:t>Work Rate</a:t>
            </a:r>
            <a:endParaRPr lang="en-US" sz="1200" dirty="0"/>
          </a:p>
        </p:txBody>
      </p:sp>
      <p:sp>
        <p:nvSpPr>
          <p:cNvPr id="50" name="Text 23"/>
          <p:cNvSpPr/>
          <p:nvPr/>
        </p:nvSpPr>
        <p:spPr>
          <a:xfrm>
            <a:off x="6638925" y="4514850"/>
            <a:ext cx="10619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Physical</a:t>
            </a:r>
            <a:endParaRPr lang="en-US" sz="1500" dirty="0"/>
          </a:p>
        </p:txBody>
      </p:sp>
      <p:sp>
        <p:nvSpPr>
          <p:cNvPr id="51" name="Text 24"/>
          <p:cNvSpPr/>
          <p:nvPr/>
        </p:nvSpPr>
        <p:spPr>
          <a:xfrm>
            <a:off x="6362700" y="49149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Height</a:t>
            </a:r>
            <a:endParaRPr lang="en-US" sz="1200" dirty="0"/>
          </a:p>
        </p:txBody>
      </p:sp>
      <p:sp>
        <p:nvSpPr>
          <p:cNvPr id="52" name="Text 25"/>
          <p:cNvSpPr/>
          <p:nvPr/>
        </p:nvSpPr>
        <p:spPr>
          <a:xfrm>
            <a:off x="6362700" y="51435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Weight</a:t>
            </a:r>
            <a:endParaRPr lang="en-US" sz="1200" dirty="0"/>
          </a:p>
        </p:txBody>
      </p:sp>
      <p:sp>
        <p:nvSpPr>
          <p:cNvPr id="53" name="Text 26"/>
          <p:cNvSpPr/>
          <p:nvPr/>
        </p:nvSpPr>
        <p:spPr>
          <a:xfrm>
            <a:off x="6362700" y="53721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</a:rPr>
              <a:t>Body type</a:t>
            </a:r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54" name="Text 27"/>
          <p:cNvSpPr/>
          <p:nvPr/>
        </p:nvSpPr>
        <p:spPr>
          <a:xfrm>
            <a:off x="6362700" y="56007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Potential</a:t>
            </a:r>
            <a:endParaRPr lang="en-US" sz="1200" dirty="0"/>
          </a:p>
        </p:txBody>
      </p:sp>
      <p:sp>
        <p:nvSpPr>
          <p:cNvPr id="55" name="Text 28"/>
          <p:cNvSpPr/>
          <p:nvPr/>
        </p:nvSpPr>
        <p:spPr>
          <a:xfrm>
            <a:off x="9591675" y="4514850"/>
            <a:ext cx="11087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Contract</a:t>
            </a:r>
            <a:endParaRPr lang="en-US" sz="1500" dirty="0"/>
          </a:p>
        </p:txBody>
      </p:sp>
      <p:sp>
        <p:nvSpPr>
          <p:cNvPr id="56" name="Text 29"/>
          <p:cNvSpPr/>
          <p:nvPr/>
        </p:nvSpPr>
        <p:spPr>
          <a:xfrm>
            <a:off x="9258300" y="49149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Value</a:t>
            </a:r>
            <a:endParaRPr lang="en-US" sz="1200" dirty="0"/>
          </a:p>
        </p:txBody>
      </p:sp>
      <p:sp>
        <p:nvSpPr>
          <p:cNvPr id="57" name="Text 30"/>
          <p:cNvSpPr/>
          <p:nvPr/>
        </p:nvSpPr>
        <p:spPr>
          <a:xfrm>
            <a:off x="9258300" y="51435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Wage</a:t>
            </a:r>
            <a:endParaRPr lang="en-US" sz="1200" dirty="0"/>
          </a:p>
        </p:txBody>
      </p:sp>
      <p:sp>
        <p:nvSpPr>
          <p:cNvPr id="58" name="Text 31"/>
          <p:cNvSpPr/>
          <p:nvPr/>
        </p:nvSpPr>
        <p:spPr>
          <a:xfrm>
            <a:off x="9258300" y="53721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Club</a:t>
            </a:r>
            <a:endParaRPr lang="en-US" sz="1200" dirty="0"/>
          </a:p>
        </p:txBody>
      </p:sp>
      <p:sp>
        <p:nvSpPr>
          <p:cNvPr id="59" name="Text 32"/>
          <p:cNvSpPr/>
          <p:nvPr/>
        </p:nvSpPr>
        <p:spPr>
          <a:xfrm>
            <a:off x="9258300" y="56007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Position</a:t>
            </a:r>
            <a:endParaRPr lang="en-US" sz="1200" dirty="0"/>
          </a:p>
        </p:txBody>
      </p:sp>
      <p:sp>
        <p:nvSpPr>
          <p:cNvPr id="60" name="Text 33"/>
          <p:cNvSpPr/>
          <p:nvPr/>
        </p:nvSpPr>
        <p:spPr>
          <a:xfrm>
            <a:off x="11663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3/16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9925" y="6096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58007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714500"/>
            <a:ext cx="5600700" cy="1524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905000"/>
            <a:ext cx="51435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019300"/>
            <a:ext cx="2857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1714500"/>
            <a:ext cx="5600700" cy="1524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905000"/>
            <a:ext cx="51435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5100" y="201930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3467100"/>
            <a:ext cx="5600700" cy="1524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657600"/>
            <a:ext cx="51435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771900"/>
            <a:ext cx="2857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3467100"/>
            <a:ext cx="5600700" cy="1524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657600"/>
            <a:ext cx="55245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15100" y="3771900"/>
            <a:ext cx="32385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2286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Cleaning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381000" y="12192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initial dataset required several cleaning steps to ensure data quality and consistency: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238250" y="1905000"/>
            <a:ext cx="406443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Handling Missing Data</a:t>
            </a:r>
            <a:endParaRPr lang="en-US" sz="1800" dirty="0"/>
          </a:p>
        </p:txBody>
      </p:sp>
      <p:sp>
        <p:nvSpPr>
          <p:cNvPr id="25" name="Text 3"/>
          <p:cNvSpPr/>
          <p:nvPr/>
        </p:nvSpPr>
        <p:spPr>
          <a:xfrm>
            <a:off x="1238250" y="2286000"/>
            <a:ext cx="40644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Identified columns with missing values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1238250" y="2552700"/>
            <a:ext cx="40644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Analyzed NULL percentages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1238250" y="2819400"/>
            <a:ext cx="40644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Applied appropriate imputation strategies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7067550" y="1905000"/>
            <a:ext cx="443305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Type Conversions</a:t>
            </a:r>
            <a:endParaRPr lang="en-US" sz="1800" dirty="0"/>
          </a:p>
        </p:txBody>
      </p:sp>
      <p:sp>
        <p:nvSpPr>
          <p:cNvPr id="29" name="Text 7"/>
          <p:cNvSpPr/>
          <p:nvPr/>
        </p:nvSpPr>
        <p:spPr>
          <a:xfrm>
            <a:off x="7067550" y="2286000"/>
            <a:ext cx="44330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Converted 'Kit Number' to Integer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7067550" y="2552700"/>
            <a:ext cx="44330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Transformed 'Contract Valid Until' to year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7067550" y="2819400"/>
            <a:ext cx="44330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Ensured data types aligned with intended use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1238250" y="3657600"/>
            <a:ext cx="326719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Removing Duplicates</a:t>
            </a:r>
            <a:endParaRPr lang="en-US" sz="1800" dirty="0"/>
          </a:p>
        </p:txBody>
      </p:sp>
      <p:sp>
        <p:nvSpPr>
          <p:cNvPr id="33" name="Text 11"/>
          <p:cNvSpPr/>
          <p:nvPr/>
        </p:nvSpPr>
        <p:spPr>
          <a:xfrm>
            <a:off x="1238250" y="4038600"/>
            <a:ext cx="32671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Identified duplicate entries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1238250" y="4305300"/>
            <a:ext cx="32671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Eliminated redundant records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1238250" y="4572000"/>
            <a:ext cx="32671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Ensured unique player records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7105650" y="3657600"/>
            <a:ext cx="406407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Fixing Inconsistent Values</a:t>
            </a:r>
            <a:endParaRPr lang="en-US" sz="1800" dirty="0"/>
          </a:p>
        </p:txBody>
      </p:sp>
      <p:sp>
        <p:nvSpPr>
          <p:cNvPr id="37" name="Text 15"/>
          <p:cNvSpPr/>
          <p:nvPr/>
        </p:nvSpPr>
        <p:spPr>
          <a:xfrm>
            <a:off x="7105650" y="4038600"/>
            <a:ext cx="40640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Standardized categorical entries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7105650" y="4305300"/>
            <a:ext cx="40640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Corrected text field inconsistencies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7105650" y="4572000"/>
            <a:ext cx="40640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Maintained uniformity across datasets</a:t>
            </a:r>
            <a:endParaRPr lang="en-US" sz="1200" dirty="0"/>
          </a:p>
        </p:txBody>
      </p:sp>
      <p:sp>
        <p:nvSpPr>
          <p:cNvPr id="40" name="Text 18"/>
          <p:cNvSpPr/>
          <p:nvPr/>
        </p:nvSpPr>
        <p:spPr>
          <a:xfrm>
            <a:off x="876300" y="5391150"/>
            <a:ext cx="127067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41" name="Text 19"/>
          <p:cNvSpPr/>
          <p:nvPr/>
        </p:nvSpPr>
        <p:spPr>
          <a:xfrm>
            <a:off x="11663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4/16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5240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5125" y="59531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118110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1600200"/>
            <a:ext cx="5562600" cy="1028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2781300"/>
            <a:ext cx="5562600" cy="1028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297180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4038600"/>
            <a:ext cx="5562600" cy="2476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533900"/>
            <a:ext cx="5257800" cy="1828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0" y="1143000"/>
            <a:ext cx="5791200" cy="5410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181100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1600200"/>
            <a:ext cx="5562600" cy="1028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1790700"/>
            <a:ext cx="19050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2781300"/>
            <a:ext cx="5562600" cy="800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3848100"/>
            <a:ext cx="228600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4267200"/>
            <a:ext cx="5562600" cy="1143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44577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47625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50673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57200" y="2286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Detecting &amp; Handling Outliers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647700" y="114300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Detection Methods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533400" y="17526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Statistical Methods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685800" y="20193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Interquartile Range (IQR) method to identify data points deviating from central tendency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723900" y="29337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 Identification</a:t>
            </a:r>
            <a:endParaRPr lang="en-US" sz="1500" dirty="0"/>
          </a:p>
        </p:txBody>
      </p:sp>
      <p:sp>
        <p:nvSpPr>
          <p:cNvPr id="29" name="Text 5"/>
          <p:cNvSpPr/>
          <p:nvPr/>
        </p:nvSpPr>
        <p:spPr>
          <a:xfrm>
            <a:off x="685800" y="32004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Box plots and scatter plots to visualize and identify extreme values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-68580" y="4191000"/>
            <a:ext cx="6309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Outlier Detection Visualization</a:t>
            </a:r>
            <a:endParaRPr lang="en-US" sz="1350" dirty="0"/>
          </a:p>
        </p:txBody>
      </p:sp>
      <p:sp>
        <p:nvSpPr>
          <p:cNvPr id="31" name="Text 7"/>
          <p:cNvSpPr/>
          <p:nvPr/>
        </p:nvSpPr>
        <p:spPr>
          <a:xfrm>
            <a:off x="6667500" y="114300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Handling Techniques</a:t>
            </a:r>
            <a:endParaRPr lang="en-US" sz="1800" dirty="0"/>
          </a:p>
        </p:txBody>
      </p:sp>
      <p:sp>
        <p:nvSpPr>
          <p:cNvPr id="32" name="Text 8"/>
          <p:cNvSpPr/>
          <p:nvPr/>
        </p:nvSpPr>
        <p:spPr>
          <a:xfrm>
            <a:off x="6743700" y="1752600"/>
            <a:ext cx="6309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Controlling Extreme Values</a:t>
            </a:r>
            <a:endParaRPr lang="en-US" sz="1500" dirty="0"/>
          </a:p>
        </p:txBody>
      </p:sp>
      <p:sp>
        <p:nvSpPr>
          <p:cNvPr id="33" name="Text 9"/>
          <p:cNvSpPr/>
          <p:nvPr/>
        </p:nvSpPr>
        <p:spPr>
          <a:xfrm>
            <a:off x="6705600" y="20193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Applied capping to ensure player attributes remain within realistic ranges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6553200" y="29337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Transformations</a:t>
            </a:r>
            <a:endParaRPr lang="en-US" sz="1500" dirty="0"/>
          </a:p>
        </p:txBody>
      </p:sp>
      <p:sp>
        <p:nvSpPr>
          <p:cNvPr id="35" name="Text 11"/>
          <p:cNvSpPr/>
          <p:nvPr/>
        </p:nvSpPr>
        <p:spPr>
          <a:xfrm>
            <a:off x="6705600" y="3200400"/>
            <a:ext cx="6035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Used transformations to mitigate impact of anomalous entries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6667500" y="381000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Benefits</a:t>
            </a:r>
            <a:endParaRPr lang="en-US" sz="1800" dirty="0"/>
          </a:p>
        </p:txBody>
      </p:sp>
      <p:sp>
        <p:nvSpPr>
          <p:cNvPr id="37" name="Text 13"/>
          <p:cNvSpPr/>
          <p:nvPr/>
        </p:nvSpPr>
        <p:spPr>
          <a:xfrm>
            <a:off x="6743700" y="4419600"/>
            <a:ext cx="23168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Maintained data integrity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6743700" y="4724400"/>
            <a:ext cx="237886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model accuracy</a:t>
            </a:r>
            <a:endParaRPr lang="en-US" sz="1200" dirty="0"/>
          </a:p>
        </p:txBody>
      </p:sp>
      <p:sp>
        <p:nvSpPr>
          <p:cNvPr id="39" name="Text 15"/>
          <p:cNvSpPr/>
          <p:nvPr/>
        </p:nvSpPr>
        <p:spPr>
          <a:xfrm>
            <a:off x="6781800" y="5029200"/>
            <a:ext cx="38051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Ensured realistic football attribute ranges</a:t>
            </a:r>
            <a:endParaRPr lang="en-US" sz="1200" dirty="0"/>
          </a:p>
        </p:txBody>
      </p:sp>
      <p:sp>
        <p:nvSpPr>
          <p:cNvPr id="40" name="Text 16"/>
          <p:cNvSpPr/>
          <p:nvPr/>
        </p:nvSpPr>
        <p:spPr>
          <a:xfrm>
            <a:off x="11663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5/16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125" y="7620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54959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1181100"/>
            <a:ext cx="28575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1600200"/>
            <a:ext cx="5562600" cy="1371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7526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2450" y="1866900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2699" y="2514600"/>
            <a:ext cx="684609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3906" y="2514600"/>
            <a:ext cx="665113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5616" y="2514600"/>
            <a:ext cx="820936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800" y="3124200"/>
            <a:ext cx="5562600" cy="990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2766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1975" y="3390900"/>
            <a:ext cx="1714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800" y="4267200"/>
            <a:ext cx="5562600" cy="1485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41960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5339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21979" y="4876800"/>
            <a:ext cx="876449" cy="419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12728" y="4972050"/>
            <a:ext cx="569119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74740" y="4972050"/>
            <a:ext cx="541883" cy="228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0" y="1143000"/>
            <a:ext cx="5791200" cy="5410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1181100"/>
            <a:ext cx="285750" cy="228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1600200"/>
            <a:ext cx="5562600" cy="1028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1752600"/>
            <a:ext cx="38100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10350" y="1866900"/>
            <a:ext cx="1143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24600" y="2819400"/>
            <a:ext cx="5562600" cy="1028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0" y="2971800"/>
            <a:ext cx="381000" cy="3810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600825" y="3086100"/>
            <a:ext cx="13335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24600" y="4038600"/>
            <a:ext cx="5562600" cy="10287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77000" y="4191000"/>
            <a:ext cx="381000" cy="3810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619875" y="4305300"/>
            <a:ext cx="9525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677150" y="5219700"/>
            <a:ext cx="2857500" cy="85725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457200" y="2286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Engineering</a:t>
            </a:r>
            <a:endParaRPr lang="en-US" sz="2700" dirty="0"/>
          </a:p>
        </p:txBody>
      </p:sp>
      <p:sp>
        <p:nvSpPr>
          <p:cNvPr id="37" name="Text 1"/>
          <p:cNvSpPr/>
          <p:nvPr/>
        </p:nvSpPr>
        <p:spPr>
          <a:xfrm>
            <a:off x="704850" y="114300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New Features Created</a:t>
            </a:r>
            <a:endParaRPr lang="en-US" sz="1800" dirty="0"/>
          </a:p>
        </p:txBody>
      </p:sp>
      <p:sp>
        <p:nvSpPr>
          <p:cNvPr id="38" name="Text 2"/>
          <p:cNvSpPr/>
          <p:nvPr/>
        </p:nvSpPr>
        <p:spPr>
          <a:xfrm>
            <a:off x="952500" y="1809750"/>
            <a:ext cx="14951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 Groups</a:t>
            </a:r>
            <a:endParaRPr lang="en-US" sz="1500" dirty="0"/>
          </a:p>
        </p:txBody>
      </p:sp>
      <p:sp>
        <p:nvSpPr>
          <p:cNvPr id="39" name="Text 3"/>
          <p:cNvSpPr/>
          <p:nvPr/>
        </p:nvSpPr>
        <p:spPr>
          <a:xfrm>
            <a:off x="914400" y="2209800"/>
            <a:ext cx="5760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Categorized players into career stages:</a:t>
            </a:r>
            <a:endParaRPr lang="en-US" sz="1200" dirty="0"/>
          </a:p>
        </p:txBody>
      </p:sp>
      <p:sp>
        <p:nvSpPr>
          <p:cNvPr id="40" name="Text 4"/>
          <p:cNvSpPr/>
          <p:nvPr/>
        </p:nvSpPr>
        <p:spPr>
          <a:xfrm>
            <a:off x="1466999" y="2514600"/>
            <a:ext cx="82153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Young</a:t>
            </a:r>
            <a:endParaRPr lang="en-US" sz="1200" dirty="0"/>
          </a:p>
        </p:txBody>
      </p:sp>
      <p:sp>
        <p:nvSpPr>
          <p:cNvPr id="41" name="Text 5"/>
          <p:cNvSpPr/>
          <p:nvPr/>
        </p:nvSpPr>
        <p:spPr>
          <a:xfrm>
            <a:off x="3028206" y="2514600"/>
            <a:ext cx="79813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Prime</a:t>
            </a:r>
            <a:endParaRPr lang="en-US" sz="1200" dirty="0"/>
          </a:p>
        </p:txBody>
      </p:sp>
      <p:sp>
        <p:nvSpPr>
          <p:cNvPr id="42" name="Text 6"/>
          <p:cNvSpPr/>
          <p:nvPr/>
        </p:nvSpPr>
        <p:spPr>
          <a:xfrm>
            <a:off x="4569916" y="2514600"/>
            <a:ext cx="98512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Veteran</a:t>
            </a:r>
            <a:endParaRPr lang="en-US" sz="1200" dirty="0"/>
          </a:p>
        </p:txBody>
      </p:sp>
      <p:sp>
        <p:nvSpPr>
          <p:cNvPr id="43" name="Text 7"/>
          <p:cNvSpPr/>
          <p:nvPr/>
        </p:nvSpPr>
        <p:spPr>
          <a:xfrm>
            <a:off x="952500" y="3333750"/>
            <a:ext cx="18438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Rating Groups</a:t>
            </a:r>
            <a:endParaRPr lang="en-US" sz="1500" dirty="0"/>
          </a:p>
        </p:txBody>
      </p:sp>
      <p:sp>
        <p:nvSpPr>
          <p:cNvPr id="44" name="Text 8"/>
          <p:cNvSpPr/>
          <p:nvPr/>
        </p:nvSpPr>
        <p:spPr>
          <a:xfrm>
            <a:off x="914400" y="3733800"/>
            <a:ext cx="5760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Grouped overall ratings for easier EDA</a:t>
            </a:r>
            <a:endParaRPr lang="en-US" sz="1200" dirty="0"/>
          </a:p>
        </p:txBody>
      </p:sp>
      <p:sp>
        <p:nvSpPr>
          <p:cNvPr id="45" name="Text 9"/>
          <p:cNvSpPr/>
          <p:nvPr/>
        </p:nvSpPr>
        <p:spPr>
          <a:xfrm>
            <a:off x="952500" y="4476750"/>
            <a:ext cx="200507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BMI Calculation</a:t>
            </a:r>
            <a:endParaRPr lang="en-US" sz="1500" dirty="0"/>
          </a:p>
        </p:txBody>
      </p:sp>
      <p:sp>
        <p:nvSpPr>
          <p:cNvPr id="46" name="Text 10"/>
          <p:cNvSpPr/>
          <p:nvPr/>
        </p:nvSpPr>
        <p:spPr>
          <a:xfrm>
            <a:off x="2174379" y="4972050"/>
            <a:ext cx="685979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BMI =</a:t>
            </a:r>
            <a:endParaRPr lang="en-US" sz="1500" dirty="0"/>
          </a:p>
        </p:txBody>
      </p:sp>
      <p:sp>
        <p:nvSpPr>
          <p:cNvPr id="47" name="Text 11"/>
          <p:cNvSpPr/>
          <p:nvPr/>
        </p:nvSpPr>
        <p:spPr>
          <a:xfrm>
            <a:off x="3012728" y="4972050"/>
            <a:ext cx="6372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Weight</a:t>
            </a:r>
            <a:endParaRPr lang="en-US" sz="1200" dirty="0"/>
          </a:p>
        </p:txBody>
      </p:sp>
      <p:sp>
        <p:nvSpPr>
          <p:cNvPr id="48" name="Text 12"/>
          <p:cNvSpPr/>
          <p:nvPr/>
        </p:nvSpPr>
        <p:spPr>
          <a:xfrm>
            <a:off x="3696146" y="4953000"/>
            <a:ext cx="7715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</a:t>
            </a:r>
            <a:endParaRPr lang="en-US" sz="1500" dirty="0"/>
          </a:p>
        </p:txBody>
      </p:sp>
      <p:sp>
        <p:nvSpPr>
          <p:cNvPr id="49" name="Text 13"/>
          <p:cNvSpPr/>
          <p:nvPr/>
        </p:nvSpPr>
        <p:spPr>
          <a:xfrm>
            <a:off x="3874740" y="4972050"/>
            <a:ext cx="604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Height</a:t>
            </a:r>
            <a:endParaRPr lang="en-US" sz="1200" dirty="0"/>
          </a:p>
        </p:txBody>
      </p:sp>
      <p:sp>
        <p:nvSpPr>
          <p:cNvPr id="50" name="Text 14"/>
          <p:cNvSpPr/>
          <p:nvPr/>
        </p:nvSpPr>
        <p:spPr>
          <a:xfrm>
            <a:off x="4530923" y="4953000"/>
            <a:ext cx="917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²</a:t>
            </a:r>
            <a:endParaRPr lang="en-US" sz="1500" dirty="0"/>
          </a:p>
        </p:txBody>
      </p:sp>
      <p:sp>
        <p:nvSpPr>
          <p:cNvPr id="51" name="Text 15"/>
          <p:cNvSpPr/>
          <p:nvPr/>
        </p:nvSpPr>
        <p:spPr>
          <a:xfrm>
            <a:off x="434340" y="5372100"/>
            <a:ext cx="5760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Used as a physical fitness indicator</a:t>
            </a:r>
            <a:endParaRPr lang="en-US" sz="1200" dirty="0"/>
          </a:p>
        </p:txBody>
      </p:sp>
      <p:sp>
        <p:nvSpPr>
          <p:cNvPr id="52" name="Text 16"/>
          <p:cNvSpPr/>
          <p:nvPr/>
        </p:nvSpPr>
        <p:spPr>
          <a:xfrm>
            <a:off x="6724650" y="114300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Correlation Insights</a:t>
            </a:r>
            <a:endParaRPr lang="en-US" sz="1800" dirty="0"/>
          </a:p>
        </p:txBody>
      </p:sp>
      <p:sp>
        <p:nvSpPr>
          <p:cNvPr id="53" name="Text 17"/>
          <p:cNvSpPr/>
          <p:nvPr/>
        </p:nvSpPr>
        <p:spPr>
          <a:xfrm>
            <a:off x="6972300" y="1752600"/>
            <a:ext cx="571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at Club vs Overall</a:t>
            </a:r>
            <a:endParaRPr lang="en-US" sz="1500" dirty="0"/>
          </a:p>
        </p:txBody>
      </p:sp>
      <p:sp>
        <p:nvSpPr>
          <p:cNvPr id="54" name="Text 18"/>
          <p:cNvSpPr/>
          <p:nvPr/>
        </p:nvSpPr>
        <p:spPr>
          <a:xfrm>
            <a:off x="6972300" y="2019300"/>
            <a:ext cx="4762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Player tenure at a club may correlate with overall rating, indicating stability or development.</a:t>
            </a:r>
            <a:endParaRPr lang="en-US" sz="1200" dirty="0"/>
          </a:p>
        </p:txBody>
      </p:sp>
      <p:sp>
        <p:nvSpPr>
          <p:cNvPr id="55" name="Text 19"/>
          <p:cNvSpPr/>
          <p:nvPr/>
        </p:nvSpPr>
        <p:spPr>
          <a:xfrm>
            <a:off x="6972300" y="2971800"/>
            <a:ext cx="571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Physical Stats vs Overall</a:t>
            </a:r>
            <a:endParaRPr lang="en-US" sz="1500" dirty="0"/>
          </a:p>
        </p:txBody>
      </p:sp>
      <p:sp>
        <p:nvSpPr>
          <p:cNvPr id="56" name="Text 20"/>
          <p:cNvSpPr/>
          <p:nvPr/>
        </p:nvSpPr>
        <p:spPr>
          <a:xfrm>
            <a:off x="6972300" y="3238500"/>
            <a:ext cx="4762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relationships found between physical attributes (pace, strength, stamina) and overall rating.</a:t>
            </a:r>
            <a:endParaRPr lang="en-US" sz="1200" dirty="0"/>
          </a:p>
        </p:txBody>
      </p:sp>
      <p:sp>
        <p:nvSpPr>
          <p:cNvPr id="57" name="Text 21"/>
          <p:cNvSpPr/>
          <p:nvPr/>
        </p:nvSpPr>
        <p:spPr>
          <a:xfrm>
            <a:off x="6972300" y="4191000"/>
            <a:ext cx="571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Value/Wage vs Overall</a:t>
            </a:r>
            <a:endParaRPr lang="en-US" sz="1500" dirty="0"/>
          </a:p>
        </p:txBody>
      </p:sp>
      <p:sp>
        <p:nvSpPr>
          <p:cNvPr id="58" name="Text 22"/>
          <p:cNvSpPr/>
          <p:nvPr/>
        </p:nvSpPr>
        <p:spPr>
          <a:xfrm>
            <a:off x="6972300" y="4457700"/>
            <a:ext cx="4762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Clear positive correlation between market value/wage and overall rating, reflecting skill and market demand.</a:t>
            </a:r>
            <a:endParaRPr lang="en-US" sz="1200" dirty="0"/>
          </a:p>
        </p:txBody>
      </p:sp>
      <p:sp>
        <p:nvSpPr>
          <p:cNvPr id="59" name="Text 23"/>
          <p:cNvSpPr/>
          <p:nvPr/>
        </p:nvSpPr>
        <p:spPr>
          <a:xfrm>
            <a:off x="11663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6/16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125" y="7620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54959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7687" y="1143000"/>
            <a:ext cx="1692176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9863" y="1333500"/>
            <a:ext cx="6096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9463" y="1143000"/>
            <a:ext cx="1129605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9068" y="1333500"/>
            <a:ext cx="609600" cy="76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8668" y="1143000"/>
            <a:ext cx="1095524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24192" y="1333500"/>
            <a:ext cx="609600" cy="76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3792" y="1143000"/>
            <a:ext cx="1070372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" y="1828800"/>
            <a:ext cx="3759250" cy="4724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300" y="20193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2819400"/>
            <a:ext cx="762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3581400"/>
            <a:ext cx="762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4114800"/>
            <a:ext cx="762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5300" y="4686300"/>
            <a:ext cx="3378250" cy="76333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16450" y="1828800"/>
            <a:ext cx="3759250" cy="4724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06950" y="201930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06950" y="2819400"/>
            <a:ext cx="762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06950" y="3352800"/>
            <a:ext cx="762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06950" y="3886200"/>
            <a:ext cx="762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06950" y="4686300"/>
            <a:ext cx="3378250" cy="763339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28099" y="1828800"/>
            <a:ext cx="3759250" cy="4724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18599" y="2019300"/>
            <a:ext cx="257175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599" y="2819400"/>
            <a:ext cx="762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599" y="3352800"/>
            <a:ext cx="762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599" y="3886200"/>
            <a:ext cx="762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18599" y="4457700"/>
            <a:ext cx="3378250" cy="763339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457200" y="2286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Exploratory Data Analysis (EDA)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2878187" y="1143000"/>
            <a:ext cx="203061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35" name="Text 2"/>
          <p:cNvSpPr/>
          <p:nvPr/>
        </p:nvSpPr>
        <p:spPr>
          <a:xfrm>
            <a:off x="5179963" y="1143000"/>
            <a:ext cx="135552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Cleaning</a:t>
            </a:r>
            <a:endParaRPr lang="en-US" sz="1200" dirty="0"/>
          </a:p>
        </p:txBody>
      </p:sp>
      <p:sp>
        <p:nvSpPr>
          <p:cNvPr id="36" name="Text 3"/>
          <p:cNvSpPr/>
          <p:nvPr/>
        </p:nvSpPr>
        <p:spPr>
          <a:xfrm>
            <a:off x="6919168" y="1143000"/>
            <a:ext cx="131462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8624292" y="1143000"/>
            <a:ext cx="128444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Insights</a:t>
            </a:r>
            <a:endParaRPr lang="en-US" sz="1200" dirty="0"/>
          </a:p>
        </p:txBody>
      </p:sp>
      <p:sp>
        <p:nvSpPr>
          <p:cNvPr id="38" name="Text 5"/>
          <p:cNvSpPr/>
          <p:nvPr/>
        </p:nvSpPr>
        <p:spPr>
          <a:xfrm>
            <a:off x="838200" y="2019300"/>
            <a:ext cx="298930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Univariate Analysis</a:t>
            </a:r>
            <a:endParaRPr lang="en-US" sz="1800" dirty="0"/>
          </a:p>
        </p:txBody>
      </p:sp>
      <p:sp>
        <p:nvSpPr>
          <p:cNvPr id="39" name="Text 6"/>
          <p:cNvSpPr/>
          <p:nvPr/>
        </p:nvSpPr>
        <p:spPr>
          <a:xfrm>
            <a:off x="495300" y="2438400"/>
            <a:ext cx="4053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Distribution of individual player attributes</a:t>
            </a:r>
            <a:endParaRPr lang="en-US" sz="1200" dirty="0"/>
          </a:p>
        </p:txBody>
      </p:sp>
      <p:sp>
        <p:nvSpPr>
          <p:cNvPr id="40" name="Text 7"/>
          <p:cNvSpPr/>
          <p:nvPr/>
        </p:nvSpPr>
        <p:spPr>
          <a:xfrm>
            <a:off x="647700" y="2781300"/>
            <a:ext cx="32258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Overall Rating:</a:t>
            </a:r>
            <a:r>
              <a:rPr lang="en-US" sz="1200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Left-skewed distribution with higher concentration of lower-rated players</a:t>
            </a:r>
            <a:endParaRPr lang="en-US" sz="1200" dirty="0"/>
          </a:p>
        </p:txBody>
      </p:sp>
      <p:sp>
        <p:nvSpPr>
          <p:cNvPr id="41" name="Text 8"/>
          <p:cNvSpPr/>
          <p:nvPr/>
        </p:nvSpPr>
        <p:spPr>
          <a:xfrm>
            <a:off x="647700" y="3543300"/>
            <a:ext cx="322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Age:</a:t>
            </a:r>
            <a:r>
              <a:rPr lang="en-US" sz="1200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Peaks in mid-20s, reflecting prime years</a:t>
            </a:r>
            <a:endParaRPr lang="en-US" sz="1200" dirty="0"/>
          </a:p>
        </p:txBody>
      </p:sp>
      <p:sp>
        <p:nvSpPr>
          <p:cNvPr id="42" name="Text 9"/>
          <p:cNvSpPr/>
          <p:nvPr/>
        </p:nvSpPr>
        <p:spPr>
          <a:xfrm>
            <a:off x="647700" y="4076700"/>
            <a:ext cx="322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Pace:</a:t>
            </a:r>
            <a:r>
              <a:rPr lang="en-US" sz="1200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Higher values for younger players and wingers</a:t>
            </a:r>
            <a:endParaRPr lang="en-US" sz="1200" dirty="0"/>
          </a:p>
        </p:txBody>
      </p:sp>
      <p:sp>
        <p:nvSpPr>
          <p:cNvPr id="43" name="Text 10"/>
          <p:cNvSpPr/>
          <p:nvPr/>
        </p:nvSpPr>
        <p:spPr>
          <a:xfrm>
            <a:off x="4749850" y="2019300"/>
            <a:ext cx="278034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Bivariate Analysis</a:t>
            </a:r>
            <a:endParaRPr lang="en-US" sz="1800" dirty="0"/>
          </a:p>
        </p:txBody>
      </p:sp>
      <p:sp>
        <p:nvSpPr>
          <p:cNvPr id="44" name="Text 11"/>
          <p:cNvSpPr/>
          <p:nvPr/>
        </p:nvSpPr>
        <p:spPr>
          <a:xfrm>
            <a:off x="4406950" y="2438400"/>
            <a:ext cx="4053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Relationships between pairs of variables</a:t>
            </a:r>
            <a:endParaRPr lang="en-US" sz="1200" dirty="0"/>
          </a:p>
        </p:txBody>
      </p:sp>
      <p:sp>
        <p:nvSpPr>
          <p:cNvPr id="45" name="Text 12"/>
          <p:cNvSpPr/>
          <p:nvPr/>
        </p:nvSpPr>
        <p:spPr>
          <a:xfrm>
            <a:off x="4559350" y="2781300"/>
            <a:ext cx="322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Wages vs. Overall:</a:t>
            </a:r>
            <a:r>
              <a:rPr lang="en-US" sz="1200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Strong positive correlation</a:t>
            </a:r>
            <a:endParaRPr lang="en-US" sz="1200" dirty="0"/>
          </a:p>
        </p:txBody>
      </p:sp>
      <p:sp>
        <p:nvSpPr>
          <p:cNvPr id="46" name="Text 13"/>
          <p:cNvSpPr/>
          <p:nvPr/>
        </p:nvSpPr>
        <p:spPr>
          <a:xfrm>
            <a:off x="4559350" y="3314700"/>
            <a:ext cx="322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Pace vs. Winger Ratings:</a:t>
            </a:r>
            <a:r>
              <a:rPr lang="en-US" sz="1200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Significant positive correlation</a:t>
            </a:r>
            <a:endParaRPr lang="en-US" sz="1200" dirty="0"/>
          </a:p>
        </p:txBody>
      </p:sp>
      <p:sp>
        <p:nvSpPr>
          <p:cNvPr id="47" name="Text 14"/>
          <p:cNvSpPr/>
          <p:nvPr/>
        </p:nvSpPr>
        <p:spPr>
          <a:xfrm>
            <a:off x="4559350" y="3848100"/>
            <a:ext cx="32258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Defensive Scores vs. Pace:</a:t>
            </a:r>
            <a:r>
              <a:rPr lang="en-US" sz="1200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Defenders have higher defensive scores but lower pace</a:t>
            </a:r>
            <a:endParaRPr lang="en-US" sz="1200" dirty="0"/>
          </a:p>
        </p:txBody>
      </p:sp>
      <p:sp>
        <p:nvSpPr>
          <p:cNvPr id="48" name="Text 15"/>
          <p:cNvSpPr/>
          <p:nvPr/>
        </p:nvSpPr>
        <p:spPr>
          <a:xfrm>
            <a:off x="8690074" y="2019300"/>
            <a:ext cx="326469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Multivariate Analysis</a:t>
            </a:r>
            <a:endParaRPr lang="en-US" sz="1800" dirty="0"/>
          </a:p>
        </p:txBody>
      </p:sp>
      <p:sp>
        <p:nvSpPr>
          <p:cNvPr id="49" name="Text 16"/>
          <p:cNvSpPr/>
          <p:nvPr/>
        </p:nvSpPr>
        <p:spPr>
          <a:xfrm>
            <a:off x="8318599" y="2438400"/>
            <a:ext cx="4053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Relationships across numerous features</a:t>
            </a:r>
            <a:endParaRPr lang="en-US" sz="1200" dirty="0"/>
          </a:p>
        </p:txBody>
      </p:sp>
      <p:sp>
        <p:nvSpPr>
          <p:cNvPr id="50" name="Text 17"/>
          <p:cNvSpPr/>
          <p:nvPr/>
        </p:nvSpPr>
        <p:spPr>
          <a:xfrm>
            <a:off x="8470999" y="2781300"/>
            <a:ext cx="322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Clusters of correlated attributes (e.g., passing, dribbling)</a:t>
            </a:r>
            <a:endParaRPr lang="en-US" sz="1200" dirty="0"/>
          </a:p>
        </p:txBody>
      </p:sp>
      <p:sp>
        <p:nvSpPr>
          <p:cNvPr id="51" name="Text 18"/>
          <p:cNvSpPr/>
          <p:nvPr/>
        </p:nvSpPr>
        <p:spPr>
          <a:xfrm>
            <a:off x="8470999" y="3314700"/>
            <a:ext cx="322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interplay between 'potential', 'value', and 'wage' with 'overall' rating</a:t>
            </a:r>
            <a:endParaRPr lang="en-US" sz="1200" dirty="0"/>
          </a:p>
        </p:txBody>
      </p:sp>
      <p:sp>
        <p:nvSpPr>
          <p:cNvPr id="52" name="Text 19"/>
          <p:cNvSpPr/>
          <p:nvPr/>
        </p:nvSpPr>
        <p:spPr>
          <a:xfrm>
            <a:off x="8470999" y="3848100"/>
            <a:ext cx="322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3F4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Physical attributes contribute differently across positions</a:t>
            </a:r>
            <a:endParaRPr lang="en-US" sz="1200" dirty="0"/>
          </a:p>
        </p:txBody>
      </p:sp>
      <p:sp>
        <p:nvSpPr>
          <p:cNvPr id="53" name="Text 20"/>
          <p:cNvSpPr/>
          <p:nvPr/>
        </p:nvSpPr>
        <p:spPr>
          <a:xfrm>
            <a:off x="11663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7/16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125" y="7620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54959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1143000"/>
            <a:ext cx="3708350" cy="396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13335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14478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1866900"/>
            <a:ext cx="3327350" cy="1028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019300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3009900"/>
            <a:ext cx="3327350" cy="762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316230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886200"/>
            <a:ext cx="3327350" cy="1028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03860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41750" y="1143000"/>
            <a:ext cx="3708350" cy="396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32250" y="13335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6550" y="14478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32250" y="1866900"/>
            <a:ext cx="3327350" cy="1028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46550" y="2019300"/>
            <a:ext cx="952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32250" y="3009900"/>
            <a:ext cx="3327350" cy="762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46550" y="3162300"/>
            <a:ext cx="1333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32250" y="3886200"/>
            <a:ext cx="3327350" cy="1028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46550" y="40386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78701" y="1143000"/>
            <a:ext cx="3708499" cy="396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69201" y="1333500"/>
            <a:ext cx="38100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73976" y="1447800"/>
            <a:ext cx="1714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69201" y="1866900"/>
            <a:ext cx="3327499" cy="762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483501" y="2019300"/>
            <a:ext cx="17145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69201" y="2743200"/>
            <a:ext cx="3327499" cy="1028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483501" y="2895600"/>
            <a:ext cx="17145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69201" y="3886200"/>
            <a:ext cx="3327499" cy="7620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83501" y="403860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457200" y="2286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Insights from EDA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990600" y="1371600"/>
            <a:ext cx="298930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Univariate Analysis</a:t>
            </a:r>
            <a:endParaRPr lang="en-US" sz="1800" dirty="0"/>
          </a:p>
        </p:txBody>
      </p:sp>
      <p:sp>
        <p:nvSpPr>
          <p:cNvPr id="37" name="Text 2"/>
          <p:cNvSpPr/>
          <p:nvPr/>
        </p:nvSpPr>
        <p:spPr>
          <a:xfrm>
            <a:off x="914400" y="1981200"/>
            <a:ext cx="279395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Overall rating distribution shows left skew, indicating more lower-rated players</a:t>
            </a:r>
            <a:endParaRPr lang="en-US" sz="1350" dirty="0"/>
          </a:p>
        </p:txBody>
      </p:sp>
      <p:sp>
        <p:nvSpPr>
          <p:cNvPr id="38" name="Text 3"/>
          <p:cNvSpPr/>
          <p:nvPr/>
        </p:nvSpPr>
        <p:spPr>
          <a:xfrm>
            <a:off x="914400" y="3124200"/>
            <a:ext cx="27939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 distribution peaks in mid-20s, reflecting prime years</a:t>
            </a:r>
            <a:endParaRPr lang="en-US" sz="1350" dirty="0"/>
          </a:p>
        </p:txBody>
      </p:sp>
      <p:sp>
        <p:nvSpPr>
          <p:cNvPr id="39" name="Text 4"/>
          <p:cNvSpPr/>
          <p:nvPr/>
        </p:nvSpPr>
        <p:spPr>
          <a:xfrm>
            <a:off x="857250" y="4000500"/>
            <a:ext cx="28511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Pace values vary, with younger players and wingers showing higher pace</a:t>
            </a:r>
            <a:endParaRPr lang="en-US" sz="1350" dirty="0"/>
          </a:p>
        </p:txBody>
      </p:sp>
      <p:sp>
        <p:nvSpPr>
          <p:cNvPr id="40" name="Text 5"/>
          <p:cNvSpPr/>
          <p:nvPr/>
        </p:nvSpPr>
        <p:spPr>
          <a:xfrm>
            <a:off x="4927550" y="1371600"/>
            <a:ext cx="278034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Bivariate Analysis</a:t>
            </a:r>
            <a:endParaRPr lang="en-US" sz="1800" dirty="0"/>
          </a:p>
        </p:txBody>
      </p:sp>
      <p:sp>
        <p:nvSpPr>
          <p:cNvPr id="41" name="Text 6"/>
          <p:cNvSpPr/>
          <p:nvPr/>
        </p:nvSpPr>
        <p:spPr>
          <a:xfrm>
            <a:off x="4756100" y="1981200"/>
            <a:ext cx="28892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positive correlation between wages and overall rating</a:t>
            </a:r>
            <a:endParaRPr lang="en-US" sz="1350" dirty="0"/>
          </a:p>
        </p:txBody>
      </p:sp>
      <p:sp>
        <p:nvSpPr>
          <p:cNvPr id="42" name="Text 7"/>
          <p:cNvSpPr/>
          <p:nvPr/>
        </p:nvSpPr>
        <p:spPr>
          <a:xfrm>
            <a:off x="4794200" y="3124200"/>
            <a:ext cx="2851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Pace shows significant positive correlation with winger ratings</a:t>
            </a:r>
            <a:endParaRPr lang="en-US" sz="1350" dirty="0"/>
          </a:p>
        </p:txBody>
      </p:sp>
      <p:sp>
        <p:nvSpPr>
          <p:cNvPr id="43" name="Text 8"/>
          <p:cNvSpPr/>
          <p:nvPr/>
        </p:nvSpPr>
        <p:spPr>
          <a:xfrm>
            <a:off x="4813250" y="4000500"/>
            <a:ext cx="283205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Defenders have higher defensive scores but lower pace attributes</a:t>
            </a:r>
            <a:endParaRPr lang="en-US" sz="1350" dirty="0"/>
          </a:p>
        </p:txBody>
      </p:sp>
      <p:sp>
        <p:nvSpPr>
          <p:cNvPr id="44" name="Text 9"/>
          <p:cNvSpPr/>
          <p:nvPr/>
        </p:nvSpPr>
        <p:spPr>
          <a:xfrm>
            <a:off x="8864501" y="1371600"/>
            <a:ext cx="326469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Multivariate Analysis</a:t>
            </a:r>
            <a:endParaRPr lang="en-US" sz="1800" dirty="0"/>
          </a:p>
        </p:txBody>
      </p:sp>
      <p:sp>
        <p:nvSpPr>
          <p:cNvPr id="45" name="Text 10"/>
          <p:cNvSpPr/>
          <p:nvPr/>
        </p:nvSpPr>
        <p:spPr>
          <a:xfrm>
            <a:off x="8769251" y="1981200"/>
            <a:ext cx="281314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Clusters of correlated attributes (e.g., passing, dribbling)</a:t>
            </a:r>
            <a:endParaRPr lang="en-US" sz="1350" dirty="0"/>
          </a:p>
        </p:txBody>
      </p:sp>
      <p:sp>
        <p:nvSpPr>
          <p:cNvPr id="46" name="Text 11"/>
          <p:cNvSpPr/>
          <p:nvPr/>
        </p:nvSpPr>
        <p:spPr>
          <a:xfrm>
            <a:off x="8769251" y="2857500"/>
            <a:ext cx="2813149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interplay between potential, value, and wage with overall rating</a:t>
            </a:r>
            <a:endParaRPr lang="en-US" sz="1350" dirty="0"/>
          </a:p>
        </p:txBody>
      </p:sp>
      <p:sp>
        <p:nvSpPr>
          <p:cNvPr id="47" name="Text 12"/>
          <p:cNvSpPr/>
          <p:nvPr/>
        </p:nvSpPr>
        <p:spPr>
          <a:xfrm>
            <a:off x="8750201" y="4000500"/>
            <a:ext cx="283219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Physical attributes contribute differently across positions</a:t>
            </a:r>
            <a:endParaRPr lang="en-US" sz="1350" dirty="0"/>
          </a:p>
        </p:txBody>
      </p:sp>
      <p:sp>
        <p:nvSpPr>
          <p:cNvPr id="48" name="Text 13"/>
          <p:cNvSpPr/>
          <p:nvPr/>
        </p:nvSpPr>
        <p:spPr>
          <a:xfrm>
            <a:off x="11663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8/16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125" y="7620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54959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0300" y="1162050"/>
            <a:ext cx="1828800" cy="990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4688" y="1276350"/>
            <a:ext cx="20002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4350" y="1647825"/>
            <a:ext cx="762000" cy="19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1600" y="1066800"/>
            <a:ext cx="1828800" cy="1181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1700" y="11811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5650" y="1647825"/>
            <a:ext cx="762000" cy="19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62900" y="1066800"/>
            <a:ext cx="1828800" cy="1181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0" y="11811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" y="243840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800" y="2857500"/>
            <a:ext cx="17145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4800" y="3200400"/>
            <a:ext cx="219075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800" y="3543300"/>
            <a:ext cx="171450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4800" y="3886200"/>
            <a:ext cx="171450" cy="1714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0" y="2400300"/>
            <a:ext cx="5791200" cy="3086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2438400"/>
            <a:ext cx="257175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2819400"/>
            <a:ext cx="5562600" cy="609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2933700"/>
            <a:ext cx="19050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3505200"/>
            <a:ext cx="5562600" cy="609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3619500"/>
            <a:ext cx="171450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4191000"/>
            <a:ext cx="5562600" cy="609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4305300"/>
            <a:ext cx="190500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4876800"/>
            <a:ext cx="5562600" cy="609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4991100"/>
            <a:ext cx="190500" cy="266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457200" y="1905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Selection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2354580" y="1619250"/>
            <a:ext cx="1920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Raw Dataset</a:t>
            </a:r>
            <a:endParaRPr lang="en-US" sz="1200" dirty="0"/>
          </a:p>
        </p:txBody>
      </p:sp>
      <p:sp>
        <p:nvSpPr>
          <p:cNvPr id="33" name="Text 2"/>
          <p:cNvSpPr/>
          <p:nvPr/>
        </p:nvSpPr>
        <p:spPr>
          <a:xfrm>
            <a:off x="2354580" y="1847850"/>
            <a:ext cx="1920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80+ attributes</a:t>
            </a:r>
            <a:endParaRPr lang="en-US" sz="1050" dirty="0"/>
          </a:p>
        </p:txBody>
      </p:sp>
      <p:sp>
        <p:nvSpPr>
          <p:cNvPr id="34" name="Text 3"/>
          <p:cNvSpPr/>
          <p:nvPr/>
        </p:nvSpPr>
        <p:spPr>
          <a:xfrm>
            <a:off x="5135880" y="1524000"/>
            <a:ext cx="1920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Selection Process</a:t>
            </a:r>
            <a:endParaRPr lang="en-US" sz="1200" dirty="0"/>
          </a:p>
        </p:txBody>
      </p:sp>
      <p:sp>
        <p:nvSpPr>
          <p:cNvPr id="35" name="Text 4"/>
          <p:cNvSpPr/>
          <p:nvPr/>
        </p:nvSpPr>
        <p:spPr>
          <a:xfrm>
            <a:off x="5295900" y="1752600"/>
            <a:ext cx="1600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Correlation &amp; Relevance</a:t>
            </a:r>
            <a:endParaRPr lang="en-US" sz="1050" dirty="0"/>
          </a:p>
        </p:txBody>
      </p:sp>
      <p:sp>
        <p:nvSpPr>
          <p:cNvPr id="36" name="Text 5"/>
          <p:cNvSpPr/>
          <p:nvPr/>
        </p:nvSpPr>
        <p:spPr>
          <a:xfrm>
            <a:off x="7917180" y="1524000"/>
            <a:ext cx="1920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Selected Features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8077200" y="1752600"/>
            <a:ext cx="1600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influence on ratings</a:t>
            </a:r>
            <a:endParaRPr lang="en-US" sz="1050" dirty="0"/>
          </a:p>
        </p:txBody>
      </p:sp>
      <p:sp>
        <p:nvSpPr>
          <p:cNvPr id="38" name="Text 7"/>
          <p:cNvSpPr/>
          <p:nvPr/>
        </p:nvSpPr>
        <p:spPr>
          <a:xfrm>
            <a:off x="647700" y="2400300"/>
            <a:ext cx="66751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Selection Methodology</a:t>
            </a:r>
            <a:endParaRPr lang="en-US" sz="1800" dirty="0"/>
          </a:p>
        </p:txBody>
      </p:sp>
      <p:sp>
        <p:nvSpPr>
          <p:cNvPr id="39" name="Text 8"/>
          <p:cNvSpPr/>
          <p:nvPr/>
        </p:nvSpPr>
        <p:spPr>
          <a:xfrm>
            <a:off x="590550" y="2819400"/>
            <a:ext cx="46595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Updated feature lists (numeric &amp; categorical)</a:t>
            </a:r>
            <a:endParaRPr lang="en-US" sz="1350" dirty="0"/>
          </a:p>
        </p:txBody>
      </p:sp>
      <p:sp>
        <p:nvSpPr>
          <p:cNvPr id="40" name="Text 9"/>
          <p:cNvSpPr/>
          <p:nvPr/>
        </p:nvSpPr>
        <p:spPr>
          <a:xfrm>
            <a:off x="638175" y="3162300"/>
            <a:ext cx="32730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Correlations with Overall Rating</a:t>
            </a:r>
            <a:endParaRPr lang="en-US" sz="1350" dirty="0"/>
          </a:p>
        </p:txBody>
      </p:sp>
      <p:sp>
        <p:nvSpPr>
          <p:cNvPr id="41" name="Text 10"/>
          <p:cNvSpPr/>
          <p:nvPr/>
        </p:nvSpPr>
        <p:spPr>
          <a:xfrm>
            <a:off x="590550" y="3505200"/>
            <a:ext cx="421338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Dropped irrelevant &amp; high-NULL columns</a:t>
            </a:r>
            <a:endParaRPr lang="en-US" sz="1350" dirty="0"/>
          </a:p>
        </p:txBody>
      </p:sp>
      <p:sp>
        <p:nvSpPr>
          <p:cNvPr id="42" name="Text 11"/>
          <p:cNvSpPr/>
          <p:nvPr/>
        </p:nvSpPr>
        <p:spPr>
          <a:xfrm>
            <a:off x="590550" y="3848100"/>
            <a:ext cx="47139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Selected features with strong rating influence</a:t>
            </a:r>
            <a:endParaRPr lang="en-US" sz="1350" dirty="0"/>
          </a:p>
        </p:txBody>
      </p:sp>
      <p:sp>
        <p:nvSpPr>
          <p:cNvPr id="43" name="Text 12"/>
          <p:cNvSpPr/>
          <p:nvPr/>
        </p:nvSpPr>
        <p:spPr>
          <a:xfrm>
            <a:off x="6696075" y="2400300"/>
            <a:ext cx="66751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Selected Features</a:t>
            </a:r>
            <a:endParaRPr lang="en-US" sz="1800" dirty="0"/>
          </a:p>
        </p:txBody>
      </p:sp>
      <p:sp>
        <p:nvSpPr>
          <p:cNvPr id="44" name="Text 13"/>
          <p:cNvSpPr/>
          <p:nvPr/>
        </p:nvSpPr>
        <p:spPr>
          <a:xfrm>
            <a:off x="6705600" y="2895600"/>
            <a:ext cx="25174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Technical Skills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6705600" y="3124200"/>
            <a:ext cx="25174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Passing, dribbling, shooting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6686550" y="3581400"/>
            <a:ext cx="2522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Physical Statistics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6686550" y="3810000"/>
            <a:ext cx="2522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Pace, acceleration, stamina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6705600" y="4267200"/>
            <a:ext cx="26555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Defensive Attributes</a:t>
            </a:r>
            <a:endParaRPr lang="en-US" sz="1200" dirty="0"/>
          </a:p>
        </p:txBody>
      </p:sp>
      <p:sp>
        <p:nvSpPr>
          <p:cNvPr id="49" name="Text 18"/>
          <p:cNvSpPr/>
          <p:nvPr/>
        </p:nvSpPr>
        <p:spPr>
          <a:xfrm>
            <a:off x="6705600" y="4495800"/>
            <a:ext cx="26555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Defending, marking, tackling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6705600" y="4953000"/>
            <a:ext cx="26383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Indicators</a:t>
            </a:r>
            <a:endParaRPr lang="en-US" sz="1200" dirty="0"/>
          </a:p>
        </p:txBody>
      </p:sp>
      <p:sp>
        <p:nvSpPr>
          <p:cNvPr id="51" name="Text 20"/>
          <p:cNvSpPr/>
          <p:nvPr/>
        </p:nvSpPr>
        <p:spPr>
          <a:xfrm>
            <a:off x="6705600" y="5181600"/>
            <a:ext cx="26383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Value, wage, potential rating</a:t>
            </a:r>
            <a:endParaRPr lang="en-US" sz="1200" dirty="0"/>
          </a:p>
        </p:txBody>
      </p:sp>
      <p:sp>
        <p:nvSpPr>
          <p:cNvPr id="52" name="Text 21"/>
          <p:cNvSpPr/>
          <p:nvPr/>
        </p:nvSpPr>
        <p:spPr>
          <a:xfrm>
            <a:off x="11663809" y="6515100"/>
            <a:ext cx="3595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9/16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125" y="7620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54959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2362200"/>
            <a:ext cx="1828800" cy="1752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0650" y="259080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1625" y="2724150"/>
            <a:ext cx="2476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05100" y="3224213"/>
            <a:ext cx="914400" cy="285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4750" y="2266950"/>
            <a:ext cx="1828800" cy="1943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24350" y="2495550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48175" y="2628900"/>
            <a:ext cx="3619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8800" y="3224213"/>
            <a:ext cx="914400" cy="285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8450" y="2133600"/>
            <a:ext cx="1828800" cy="2209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58050" y="2362200"/>
            <a:ext cx="609600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19975" y="2495550"/>
            <a:ext cx="2857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2500" y="3224213"/>
            <a:ext cx="914400" cy="2857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82150" y="2133600"/>
            <a:ext cx="1828800" cy="2209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91750" y="2362200"/>
            <a:ext cx="609600" cy="609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15575" y="2495550"/>
            <a:ext cx="3619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4800600"/>
            <a:ext cx="3555950" cy="1524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" y="5029200"/>
            <a:ext cx="238125" cy="190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" y="54102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" y="59436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17950" y="4800600"/>
            <a:ext cx="3555950" cy="1524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08450" y="5029200"/>
            <a:ext cx="190500" cy="190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08450" y="54102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08450" y="57150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78701" y="4800600"/>
            <a:ext cx="3556099" cy="1524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69201" y="5029200"/>
            <a:ext cx="238125" cy="1905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69201" y="5410200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69201" y="571500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457200" y="2286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ML Pipeline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457200" y="12954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machine learning pipeline processes raw data to generate predictions, ensuring consistency in model development.</a:t>
            </a:r>
            <a:endParaRPr lang="en-US" sz="1500" dirty="0"/>
          </a:p>
        </p:txBody>
      </p:sp>
      <p:sp>
        <p:nvSpPr>
          <p:cNvPr id="37" name="Text 2"/>
          <p:cNvSpPr/>
          <p:nvPr/>
        </p:nvSpPr>
        <p:spPr>
          <a:xfrm>
            <a:off x="872490" y="3352800"/>
            <a:ext cx="1645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Raw Data</a:t>
            </a:r>
            <a:endParaRPr lang="en-US" sz="1500" dirty="0"/>
          </a:p>
        </p:txBody>
      </p:sp>
      <p:sp>
        <p:nvSpPr>
          <p:cNvPr id="38" name="Text 3"/>
          <p:cNvSpPr/>
          <p:nvPr/>
        </p:nvSpPr>
        <p:spPr>
          <a:xfrm>
            <a:off x="872490" y="3695700"/>
            <a:ext cx="1645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FIFA 23 dataset</a:t>
            </a:r>
            <a:endParaRPr lang="en-US" sz="1050" dirty="0"/>
          </a:p>
        </p:txBody>
      </p:sp>
      <p:sp>
        <p:nvSpPr>
          <p:cNvPr id="39" name="Text 4"/>
          <p:cNvSpPr/>
          <p:nvPr/>
        </p:nvSpPr>
        <p:spPr>
          <a:xfrm>
            <a:off x="3806190" y="3257550"/>
            <a:ext cx="1645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40" name="Text 5"/>
          <p:cNvSpPr/>
          <p:nvPr/>
        </p:nvSpPr>
        <p:spPr>
          <a:xfrm>
            <a:off x="3943350" y="3600450"/>
            <a:ext cx="1371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Categorical encoding, scaling</a:t>
            </a:r>
            <a:endParaRPr lang="en-US" sz="1050" dirty="0"/>
          </a:p>
        </p:txBody>
      </p:sp>
      <p:sp>
        <p:nvSpPr>
          <p:cNvPr id="41" name="Text 6"/>
          <p:cNvSpPr/>
          <p:nvPr/>
        </p:nvSpPr>
        <p:spPr>
          <a:xfrm>
            <a:off x="6877050" y="3124200"/>
            <a:ext cx="1371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Selection</a:t>
            </a:r>
            <a:endParaRPr lang="en-US" sz="1500" dirty="0"/>
          </a:p>
        </p:txBody>
      </p:sp>
      <p:sp>
        <p:nvSpPr>
          <p:cNvPr id="42" name="Text 7"/>
          <p:cNvSpPr/>
          <p:nvPr/>
        </p:nvSpPr>
        <p:spPr>
          <a:xfrm>
            <a:off x="6877050" y="3733800"/>
            <a:ext cx="1371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Selecting relevant features</a:t>
            </a:r>
            <a:endParaRPr lang="en-US" sz="1050" dirty="0"/>
          </a:p>
        </p:txBody>
      </p:sp>
      <p:sp>
        <p:nvSpPr>
          <p:cNvPr id="43" name="Text 8"/>
          <p:cNvSpPr/>
          <p:nvPr/>
        </p:nvSpPr>
        <p:spPr>
          <a:xfrm>
            <a:off x="9810750" y="3124200"/>
            <a:ext cx="1371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44" name="Text 9"/>
          <p:cNvSpPr/>
          <p:nvPr/>
        </p:nvSpPr>
        <p:spPr>
          <a:xfrm>
            <a:off x="9810750" y="3733800"/>
            <a:ext cx="1371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Training predictive models</a:t>
            </a:r>
            <a:endParaRPr lang="en-US" sz="1050" dirty="0"/>
          </a:p>
        </p:txBody>
      </p:sp>
      <p:sp>
        <p:nvSpPr>
          <p:cNvPr id="45" name="Text 10"/>
          <p:cNvSpPr/>
          <p:nvPr/>
        </p:nvSpPr>
        <p:spPr>
          <a:xfrm>
            <a:off x="1000125" y="4991100"/>
            <a:ext cx="3174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46" name="Text 11"/>
          <p:cNvSpPr/>
          <p:nvPr/>
        </p:nvSpPr>
        <p:spPr>
          <a:xfrm>
            <a:off x="876300" y="5372100"/>
            <a:ext cx="29463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Categorical encoding for machine learning</a:t>
            </a:r>
            <a:endParaRPr lang="en-US" sz="1200" dirty="0"/>
          </a:p>
        </p:txBody>
      </p:sp>
      <p:sp>
        <p:nvSpPr>
          <p:cNvPr id="47" name="Text 12"/>
          <p:cNvSpPr/>
          <p:nvPr/>
        </p:nvSpPr>
        <p:spPr>
          <a:xfrm>
            <a:off x="876300" y="5905500"/>
            <a:ext cx="2446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Scaling numerical features</a:t>
            </a:r>
            <a:endParaRPr lang="en-US" sz="1200" dirty="0"/>
          </a:p>
        </p:txBody>
      </p:sp>
      <p:sp>
        <p:nvSpPr>
          <p:cNvPr id="48" name="Text 13"/>
          <p:cNvSpPr/>
          <p:nvPr/>
        </p:nvSpPr>
        <p:spPr>
          <a:xfrm>
            <a:off x="4813250" y="4991100"/>
            <a:ext cx="38099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Selection</a:t>
            </a:r>
            <a:endParaRPr lang="en-US" sz="1500" dirty="0"/>
          </a:p>
        </p:txBody>
      </p:sp>
      <p:sp>
        <p:nvSpPr>
          <p:cNvPr id="49" name="Text 14"/>
          <p:cNvSpPr/>
          <p:nvPr/>
        </p:nvSpPr>
        <p:spPr>
          <a:xfrm>
            <a:off x="4737050" y="5372100"/>
            <a:ext cx="298590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Identifies most relevant features</a:t>
            </a:r>
            <a:endParaRPr lang="en-US" sz="1200" dirty="0"/>
          </a:p>
        </p:txBody>
      </p:sp>
      <p:sp>
        <p:nvSpPr>
          <p:cNvPr id="50" name="Text 15"/>
          <p:cNvSpPr/>
          <p:nvPr/>
        </p:nvSpPr>
        <p:spPr>
          <a:xfrm>
            <a:off x="4737050" y="5676900"/>
            <a:ext cx="31175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Reduces dimensionality and noise</a:t>
            </a:r>
            <a:endParaRPr lang="en-US" sz="1200" dirty="0"/>
          </a:p>
        </p:txBody>
      </p:sp>
      <p:sp>
        <p:nvSpPr>
          <p:cNvPr id="51" name="Text 16"/>
          <p:cNvSpPr/>
          <p:nvPr/>
        </p:nvSpPr>
        <p:spPr>
          <a:xfrm>
            <a:off x="8721626" y="4991100"/>
            <a:ext cx="381011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52" name="Text 17"/>
          <p:cNvSpPr/>
          <p:nvPr/>
        </p:nvSpPr>
        <p:spPr>
          <a:xfrm>
            <a:off x="8597801" y="5372100"/>
            <a:ext cx="318664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Trains models on selected features</a:t>
            </a:r>
            <a:endParaRPr lang="en-US" sz="1200" dirty="0"/>
          </a:p>
        </p:txBody>
      </p:sp>
      <p:sp>
        <p:nvSpPr>
          <p:cNvPr id="53" name="Text 18"/>
          <p:cNvSpPr/>
          <p:nvPr/>
        </p:nvSpPr>
        <p:spPr>
          <a:xfrm>
            <a:off x="8597801" y="5676900"/>
            <a:ext cx="22004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various algorithms</a:t>
            </a:r>
            <a:endParaRPr lang="en-US" sz="1200" dirty="0"/>
          </a:p>
        </p:txBody>
      </p:sp>
      <p:sp>
        <p:nvSpPr>
          <p:cNvPr id="54" name="Text 19"/>
          <p:cNvSpPr/>
          <p:nvPr/>
        </p:nvSpPr>
        <p:spPr>
          <a:xfrm>
            <a:off x="11578977" y="6515100"/>
            <a:ext cx="4613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10/16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25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125" y="7620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54959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0" y="1638300"/>
            <a:ext cx="8534400" cy="1943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1638300"/>
            <a:ext cx="85344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0" y="2209800"/>
            <a:ext cx="85344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57400" y="23622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0" y="2667000"/>
            <a:ext cx="85344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7400" y="2819400"/>
            <a:ext cx="1333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0" y="3124200"/>
            <a:ext cx="85344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57400" y="32766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11352" y="3810000"/>
            <a:ext cx="4369147" cy="1524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39952" y="4076700"/>
            <a:ext cx="257175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39952" y="4914900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49517" y="4914900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4800" y="5562600"/>
            <a:ext cx="3759101" cy="838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5762625"/>
            <a:ext cx="171450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16301" y="5562600"/>
            <a:ext cx="3759250" cy="838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68701" y="5762625"/>
            <a:ext cx="152400" cy="1714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27950" y="5562600"/>
            <a:ext cx="3759101" cy="838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80350" y="5762625"/>
            <a:ext cx="171450" cy="1714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57200" y="2286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ML Models Used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304800" y="1143000"/>
            <a:ext cx="1389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Models were evaluated using </a:t>
            </a:r>
            <a:r>
              <a:rPr lang="en-US" sz="150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MAE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</a:t>
            </a:r>
            <a:r>
              <a:rPr lang="en-US" sz="150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RMSE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and </a:t>
            </a:r>
            <a:r>
              <a:rPr lang="en-US" sz="150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R²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metrics.</a:t>
            </a:r>
            <a:endParaRPr lang="en-US" sz="1500" dirty="0"/>
          </a:p>
        </p:txBody>
      </p:sp>
      <p:sp>
        <p:nvSpPr>
          <p:cNvPr id="29" name="Text 2"/>
          <p:cNvSpPr/>
          <p:nvPr/>
        </p:nvSpPr>
        <p:spPr>
          <a:xfrm>
            <a:off x="2057400" y="1638300"/>
            <a:ext cx="4132064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5960864" y="1638300"/>
            <a:ext cx="1533823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31" name="Text 4"/>
          <p:cNvSpPr/>
          <p:nvPr/>
        </p:nvSpPr>
        <p:spPr>
          <a:xfrm>
            <a:off x="7494687" y="1638300"/>
            <a:ext cx="1804988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RMSE</a:t>
            </a:r>
            <a:endParaRPr lang="en-US" sz="1500" dirty="0"/>
          </a:p>
        </p:txBody>
      </p:sp>
      <p:sp>
        <p:nvSpPr>
          <p:cNvPr id="32" name="Text 5"/>
          <p:cNvSpPr/>
          <p:nvPr/>
        </p:nvSpPr>
        <p:spPr>
          <a:xfrm>
            <a:off x="9299674" y="1638300"/>
            <a:ext cx="1063526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R²</a:t>
            </a:r>
            <a:endParaRPr lang="en-US" sz="1500" dirty="0"/>
          </a:p>
        </p:txBody>
      </p:sp>
      <p:sp>
        <p:nvSpPr>
          <p:cNvPr id="33" name="Text 6"/>
          <p:cNvSpPr/>
          <p:nvPr/>
        </p:nvSpPr>
        <p:spPr>
          <a:xfrm>
            <a:off x="2324100" y="2209800"/>
            <a:ext cx="413206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Decision Tree</a:t>
            </a:r>
            <a:endParaRPr lang="en-US" sz="1200" dirty="0"/>
          </a:p>
        </p:txBody>
      </p:sp>
      <p:sp>
        <p:nvSpPr>
          <p:cNvPr id="34" name="Text 7"/>
          <p:cNvSpPr/>
          <p:nvPr/>
        </p:nvSpPr>
        <p:spPr>
          <a:xfrm>
            <a:off x="5960864" y="2209800"/>
            <a:ext cx="153382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7494687" y="2209800"/>
            <a:ext cx="18049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2.3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9299674" y="2209800"/>
            <a:ext cx="106352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.91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2305050" y="2667000"/>
            <a:ext cx="413206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5960864" y="2667000"/>
            <a:ext cx="153382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7494687" y="2667000"/>
            <a:ext cx="18049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1.41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9299674" y="2667000"/>
            <a:ext cx="106352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.96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2324100" y="3124200"/>
            <a:ext cx="413206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Extra Trees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5960864" y="3124200"/>
            <a:ext cx="153382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3" name="Text 16"/>
          <p:cNvSpPr/>
          <p:nvPr/>
        </p:nvSpPr>
        <p:spPr>
          <a:xfrm>
            <a:off x="7494687" y="3124200"/>
            <a:ext cx="18049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1.26</a:t>
            </a:r>
            <a:endParaRPr lang="en-US" sz="1200" dirty="0"/>
          </a:p>
        </p:txBody>
      </p:sp>
      <p:sp>
        <p:nvSpPr>
          <p:cNvPr id="44" name="Text 17"/>
          <p:cNvSpPr/>
          <p:nvPr/>
        </p:nvSpPr>
        <p:spPr>
          <a:xfrm>
            <a:off x="9299674" y="3124200"/>
            <a:ext cx="106352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.97</a:t>
            </a:r>
            <a:endParaRPr lang="en-US" sz="1200" dirty="0"/>
          </a:p>
        </p:txBody>
      </p:sp>
      <p:sp>
        <p:nvSpPr>
          <p:cNvPr id="45" name="Text 18"/>
          <p:cNvSpPr/>
          <p:nvPr/>
        </p:nvSpPr>
        <p:spPr>
          <a:xfrm>
            <a:off x="4511427" y="4038600"/>
            <a:ext cx="469433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Performing Model</a:t>
            </a:r>
            <a:endParaRPr lang="en-US" sz="1800" dirty="0"/>
          </a:p>
        </p:txBody>
      </p:sp>
      <p:sp>
        <p:nvSpPr>
          <p:cNvPr id="46" name="Text 19"/>
          <p:cNvSpPr/>
          <p:nvPr/>
        </p:nvSpPr>
        <p:spPr>
          <a:xfrm>
            <a:off x="4139952" y="4457700"/>
            <a:ext cx="46943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Extra Trees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performed best, with:</a:t>
            </a:r>
            <a:endParaRPr lang="en-US" sz="1500" dirty="0"/>
          </a:p>
        </p:txBody>
      </p:sp>
      <p:sp>
        <p:nvSpPr>
          <p:cNvPr id="47" name="Text 20"/>
          <p:cNvSpPr/>
          <p:nvPr/>
        </p:nvSpPr>
        <p:spPr>
          <a:xfrm>
            <a:off x="4330452" y="4876800"/>
            <a:ext cx="10962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Lowest RMAE</a:t>
            </a:r>
            <a:endParaRPr lang="en-US" sz="1200" dirty="0"/>
          </a:p>
        </p:txBody>
      </p:sp>
      <p:sp>
        <p:nvSpPr>
          <p:cNvPr id="48" name="Text 21"/>
          <p:cNvSpPr/>
          <p:nvPr/>
        </p:nvSpPr>
        <p:spPr>
          <a:xfrm>
            <a:off x="5685234" y="4876800"/>
            <a:ext cx="12142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9" name="Text 22"/>
          <p:cNvSpPr/>
          <p:nvPr/>
        </p:nvSpPr>
        <p:spPr>
          <a:xfrm>
            <a:off x="7040017" y="4876800"/>
            <a:ext cx="95833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Highest R²</a:t>
            </a:r>
            <a:endParaRPr lang="en-US" sz="1200" dirty="0"/>
          </a:p>
        </p:txBody>
      </p:sp>
      <p:sp>
        <p:nvSpPr>
          <p:cNvPr id="50" name="Text 23"/>
          <p:cNvSpPr/>
          <p:nvPr/>
        </p:nvSpPr>
        <p:spPr>
          <a:xfrm>
            <a:off x="704850" y="5715000"/>
            <a:ext cx="41451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Decision Tree</a:t>
            </a:r>
            <a:endParaRPr lang="en-US" sz="1350" dirty="0"/>
          </a:p>
        </p:txBody>
      </p:sp>
      <p:sp>
        <p:nvSpPr>
          <p:cNvPr id="51" name="Text 24"/>
          <p:cNvSpPr/>
          <p:nvPr/>
        </p:nvSpPr>
        <p:spPr>
          <a:xfrm>
            <a:off x="457200" y="6057900"/>
            <a:ext cx="41451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Simple, interpretable model</a:t>
            </a:r>
            <a:endParaRPr lang="en-US" sz="1050" dirty="0"/>
          </a:p>
        </p:txBody>
      </p:sp>
      <p:sp>
        <p:nvSpPr>
          <p:cNvPr id="52" name="Text 25"/>
          <p:cNvSpPr/>
          <p:nvPr/>
        </p:nvSpPr>
        <p:spPr>
          <a:xfrm>
            <a:off x="4597301" y="5715000"/>
            <a:ext cx="3454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53" name="Text 26"/>
          <p:cNvSpPr/>
          <p:nvPr/>
        </p:nvSpPr>
        <p:spPr>
          <a:xfrm>
            <a:off x="4368701" y="6057900"/>
            <a:ext cx="4145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Ensemble </a:t>
            </a: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method, handles </a:t>
            </a: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non-linearity</a:t>
            </a:r>
            <a:endParaRPr lang="en-US" sz="1050" dirty="0"/>
          </a:p>
        </p:txBody>
      </p:sp>
      <p:sp>
        <p:nvSpPr>
          <p:cNvPr id="54" name="Text 27"/>
          <p:cNvSpPr/>
          <p:nvPr/>
        </p:nvSpPr>
        <p:spPr>
          <a:xfrm>
            <a:off x="8528000" y="5715000"/>
            <a:ext cx="34543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Extra Trees</a:t>
            </a:r>
            <a:endParaRPr lang="en-US" sz="1350" dirty="0"/>
          </a:p>
        </p:txBody>
      </p:sp>
      <p:sp>
        <p:nvSpPr>
          <p:cNvPr id="55" name="Text 28"/>
          <p:cNvSpPr/>
          <p:nvPr/>
        </p:nvSpPr>
        <p:spPr>
          <a:xfrm>
            <a:off x="8280350" y="6057900"/>
            <a:ext cx="4145161" cy="190500"/>
          </a:xfrm>
          <a:prstGeom prst="rect">
            <a:avLst/>
          </a:prstGeom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chemeClr val="bg1"/>
                </a:solidFill>
              </a:rPr>
              <a:t>Ensemble model that builds many decision trees</a:t>
            </a:r>
          </a:p>
        </p:txBody>
      </p:sp>
      <p:sp>
        <p:nvSpPr>
          <p:cNvPr id="56" name="Text 29"/>
          <p:cNvSpPr/>
          <p:nvPr/>
        </p:nvSpPr>
        <p:spPr>
          <a:xfrm>
            <a:off x="11578977" y="6515100"/>
            <a:ext cx="4613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11/16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125" y="7620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54959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1485900"/>
            <a:ext cx="11582400" cy="211127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1676400"/>
            <a:ext cx="11201400" cy="47297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7131" y="1800225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3482" y="1800225"/>
            <a:ext cx="1714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5039" y="1800225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2149376"/>
            <a:ext cx="11201400" cy="419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2263676"/>
            <a:ext cx="219075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" y="3787676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" y="4130576"/>
            <a:ext cx="7492901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4663976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4930676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26301" y="3749576"/>
            <a:ext cx="3860750" cy="1524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78701" y="4473476"/>
            <a:ext cx="762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78701" y="4740176"/>
            <a:ext cx="762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1905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Results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304800" y="1066800"/>
            <a:ext cx="1389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performance comparison showing algorithms' accuracy in predicting player overall ratings.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647700" y="1676400"/>
            <a:ext cx="3976687" cy="4729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4471988" y="1676400"/>
            <a:ext cx="2408188" cy="4729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MAE 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6880175" y="1676400"/>
            <a:ext cx="2408188" cy="4729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RMSE 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9288363" y="1676400"/>
            <a:ext cx="2408337" cy="4729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R² </a:t>
            </a:r>
            <a:endParaRPr lang="en-US" sz="1500" dirty="0"/>
          </a:p>
        </p:txBody>
      </p:sp>
      <p:sp>
        <p:nvSpPr>
          <p:cNvPr id="28" name="Text 6"/>
          <p:cNvSpPr/>
          <p:nvPr/>
        </p:nvSpPr>
        <p:spPr>
          <a:xfrm>
            <a:off x="981075" y="2225576"/>
            <a:ext cx="36718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XGBoost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4471988" y="2149376"/>
            <a:ext cx="2408188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</a:t>
            </a:r>
            <a:endParaRPr lang="en-US" sz="1500" dirty="0"/>
          </a:p>
        </p:txBody>
      </p:sp>
      <p:sp>
        <p:nvSpPr>
          <p:cNvPr id="30" name="Text 8"/>
          <p:cNvSpPr/>
          <p:nvPr/>
        </p:nvSpPr>
        <p:spPr>
          <a:xfrm>
            <a:off x="6880175" y="2149376"/>
            <a:ext cx="2408188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</a:t>
            </a:r>
            <a:endParaRPr lang="en-US" sz="1500" dirty="0"/>
          </a:p>
        </p:txBody>
      </p:sp>
      <p:sp>
        <p:nvSpPr>
          <p:cNvPr id="31" name="Text 9"/>
          <p:cNvSpPr/>
          <p:nvPr/>
        </p:nvSpPr>
        <p:spPr>
          <a:xfrm>
            <a:off x="9288363" y="2149376"/>
            <a:ext cx="240833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647700" y="2568476"/>
            <a:ext cx="397668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33" name="Text 11"/>
          <p:cNvSpPr/>
          <p:nvPr/>
        </p:nvSpPr>
        <p:spPr>
          <a:xfrm>
            <a:off x="4471988" y="2568476"/>
            <a:ext cx="2408188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Good</a:t>
            </a:r>
            <a:endParaRPr lang="en-US" sz="1500" dirty="0"/>
          </a:p>
        </p:txBody>
      </p:sp>
      <p:sp>
        <p:nvSpPr>
          <p:cNvPr id="34" name="Text 12"/>
          <p:cNvSpPr/>
          <p:nvPr/>
        </p:nvSpPr>
        <p:spPr>
          <a:xfrm>
            <a:off x="6880175" y="2568476"/>
            <a:ext cx="2408188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Good</a:t>
            </a:r>
            <a:endParaRPr lang="en-US" sz="1500" dirty="0"/>
          </a:p>
        </p:txBody>
      </p:sp>
      <p:sp>
        <p:nvSpPr>
          <p:cNvPr id="35" name="Text 13"/>
          <p:cNvSpPr/>
          <p:nvPr/>
        </p:nvSpPr>
        <p:spPr>
          <a:xfrm>
            <a:off x="9288363" y="2568476"/>
            <a:ext cx="240833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Good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647700" y="2987576"/>
            <a:ext cx="397668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37" name="Text 15"/>
          <p:cNvSpPr/>
          <p:nvPr/>
        </p:nvSpPr>
        <p:spPr>
          <a:xfrm>
            <a:off x="4471988" y="2987576"/>
            <a:ext cx="2408188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Moderate</a:t>
            </a:r>
            <a:endParaRPr lang="en-US" sz="1500" dirty="0"/>
          </a:p>
        </p:txBody>
      </p:sp>
      <p:sp>
        <p:nvSpPr>
          <p:cNvPr id="38" name="Text 16"/>
          <p:cNvSpPr/>
          <p:nvPr/>
        </p:nvSpPr>
        <p:spPr>
          <a:xfrm>
            <a:off x="6880175" y="2987576"/>
            <a:ext cx="2408188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Moderate</a:t>
            </a:r>
            <a:endParaRPr lang="en-US" sz="1500" dirty="0"/>
          </a:p>
        </p:txBody>
      </p:sp>
      <p:sp>
        <p:nvSpPr>
          <p:cNvPr id="39" name="Text 17"/>
          <p:cNvSpPr/>
          <p:nvPr/>
        </p:nvSpPr>
        <p:spPr>
          <a:xfrm>
            <a:off x="9288363" y="2987576"/>
            <a:ext cx="240833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Moderate</a:t>
            </a:r>
            <a:endParaRPr lang="en-US" sz="1500" dirty="0"/>
          </a:p>
        </p:txBody>
      </p:sp>
      <p:sp>
        <p:nvSpPr>
          <p:cNvPr id="40" name="Text 18"/>
          <p:cNvSpPr/>
          <p:nvPr/>
        </p:nvSpPr>
        <p:spPr>
          <a:xfrm>
            <a:off x="647700" y="3749576"/>
            <a:ext cx="74929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Model Analysis</a:t>
            </a:r>
            <a:endParaRPr lang="en-US" sz="1800" dirty="0"/>
          </a:p>
        </p:txBody>
      </p:sp>
      <p:sp>
        <p:nvSpPr>
          <p:cNvPr id="41" name="Text 19"/>
          <p:cNvSpPr/>
          <p:nvPr/>
        </p:nvSpPr>
        <p:spPr>
          <a:xfrm>
            <a:off x="457200" y="4282976"/>
            <a:ext cx="862572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XGBoost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showed the strongest performance with:</a:t>
            </a:r>
            <a:endParaRPr lang="en-US" sz="1500" dirty="0"/>
          </a:p>
        </p:txBody>
      </p:sp>
      <p:sp>
        <p:nvSpPr>
          <p:cNvPr id="42" name="Text 20"/>
          <p:cNvSpPr/>
          <p:nvPr/>
        </p:nvSpPr>
        <p:spPr>
          <a:xfrm>
            <a:off x="914400" y="4625876"/>
            <a:ext cx="16653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Lowest error rates</a:t>
            </a:r>
            <a:endParaRPr lang="en-US" sz="1200" dirty="0"/>
          </a:p>
        </p:txBody>
      </p:sp>
      <p:sp>
        <p:nvSpPr>
          <p:cNvPr id="43" name="Text 21"/>
          <p:cNvSpPr/>
          <p:nvPr/>
        </p:nvSpPr>
        <p:spPr>
          <a:xfrm>
            <a:off x="914400" y="4892576"/>
            <a:ext cx="121300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R² score</a:t>
            </a:r>
            <a:endParaRPr lang="en-US" sz="1200" dirty="0"/>
          </a:p>
        </p:txBody>
      </p:sp>
      <p:sp>
        <p:nvSpPr>
          <p:cNvPr id="44" name="Text 22"/>
          <p:cNvSpPr/>
          <p:nvPr/>
        </p:nvSpPr>
        <p:spPr>
          <a:xfrm>
            <a:off x="8178701" y="4092476"/>
            <a:ext cx="3555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XGBoost?</a:t>
            </a:r>
            <a:endParaRPr lang="en-US" sz="1500" dirty="0"/>
          </a:p>
        </p:txBody>
      </p:sp>
      <p:sp>
        <p:nvSpPr>
          <p:cNvPr id="45" name="Text 23"/>
          <p:cNvSpPr/>
          <p:nvPr/>
        </p:nvSpPr>
        <p:spPr>
          <a:xfrm>
            <a:off x="8331101" y="4435376"/>
            <a:ext cx="295376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Handles non-linear relationships</a:t>
            </a:r>
            <a:endParaRPr lang="en-US" sz="1200" dirty="0"/>
          </a:p>
        </p:txBody>
      </p:sp>
      <p:sp>
        <p:nvSpPr>
          <p:cNvPr id="46" name="Text 24"/>
          <p:cNvSpPr/>
          <p:nvPr/>
        </p:nvSpPr>
        <p:spPr>
          <a:xfrm>
            <a:off x="8331101" y="4702076"/>
            <a:ext cx="16137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Robust to outliers</a:t>
            </a:r>
            <a:endParaRPr lang="en-US" sz="1200" dirty="0"/>
          </a:p>
        </p:txBody>
      </p:sp>
      <p:sp>
        <p:nvSpPr>
          <p:cNvPr id="47" name="Text 25"/>
          <p:cNvSpPr/>
          <p:nvPr/>
        </p:nvSpPr>
        <p:spPr>
          <a:xfrm>
            <a:off x="11578977" y="6515100"/>
            <a:ext cx="4613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12/16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125" y="7620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54959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1409700"/>
            <a:ext cx="5676900" cy="3048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1600200"/>
            <a:ext cx="5295900" cy="284336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1409700"/>
            <a:ext cx="5676900" cy="800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5240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2286000"/>
            <a:ext cx="5676900" cy="800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2400300"/>
            <a:ext cx="1428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3162300"/>
            <a:ext cx="5676900" cy="1257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2766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1905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Importance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228600" y="990600"/>
            <a:ext cx="6812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Top Predictive Features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6286500" y="990600"/>
            <a:ext cx="6812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These Features Matter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6743700" y="1543050"/>
            <a:ext cx="117193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Potential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6400800" y="1866900"/>
            <a:ext cx="6537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Predicted future rating - growth potential indicator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6657975" y="2419350"/>
            <a:ext cx="17904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Wage &amp; Value</a:t>
            </a:r>
            <a:endParaRPr lang="en-US" sz="1500" dirty="0"/>
          </a:p>
        </p:txBody>
      </p:sp>
      <p:sp>
        <p:nvSpPr>
          <p:cNvPr id="22" name="Text 6"/>
          <p:cNvSpPr/>
          <p:nvPr/>
        </p:nvSpPr>
        <p:spPr>
          <a:xfrm>
            <a:off x="6400800" y="2743200"/>
            <a:ext cx="6537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Financial indicators of market demand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6743700" y="3295650"/>
            <a:ext cx="289661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Position-Specific Stats</a:t>
            </a:r>
            <a:endParaRPr lang="en-US" sz="1500" dirty="0"/>
          </a:p>
        </p:txBody>
      </p:sp>
      <p:sp>
        <p:nvSpPr>
          <p:cNvPr id="24" name="Text 8"/>
          <p:cNvSpPr/>
          <p:nvPr/>
        </p:nvSpPr>
        <p:spPr>
          <a:xfrm>
            <a:off x="6515100" y="3619500"/>
            <a:ext cx="5334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Pace (wingers, attackers)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6515100" y="384810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Dribbling (midfielders, forwards)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6515100" y="4076700"/>
            <a:ext cx="5334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Defending (defenders, DMs)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11578977" y="6515100"/>
            <a:ext cx="4613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13/16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5125" y="7620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4959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790700"/>
            <a:ext cx="5562600" cy="1524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019300"/>
            <a:ext cx="28575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133600"/>
            <a:ext cx="2857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790700"/>
            <a:ext cx="5562600" cy="1524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2019300"/>
            <a:ext cx="252859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7630" y="2133600"/>
            <a:ext cx="1714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619500"/>
            <a:ext cx="5562600" cy="1524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848100"/>
            <a:ext cx="28575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3962400"/>
            <a:ext cx="2857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3619500"/>
            <a:ext cx="5562600" cy="1524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3848100"/>
            <a:ext cx="36195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3962400"/>
            <a:ext cx="36195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08511" y="5448300"/>
            <a:ext cx="6974979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60911" y="5553075"/>
            <a:ext cx="1143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2286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 Impact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-762000" y="12192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"The predictive model offers significant practical value and business applications for football clubs and analysts"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047750" y="2019300"/>
            <a:ext cx="4667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Scouting</a:t>
            </a:r>
            <a:endParaRPr lang="en-US" sz="1800" dirty="0"/>
          </a:p>
        </p:txBody>
      </p:sp>
      <p:sp>
        <p:nvSpPr>
          <p:cNvPr id="25" name="Text 3"/>
          <p:cNvSpPr/>
          <p:nvPr/>
        </p:nvSpPr>
        <p:spPr>
          <a:xfrm>
            <a:off x="1047750" y="2400300"/>
            <a:ext cx="46672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clubs to identify potentially undervalued players by providing data-driven insights into overall rating, moving beyond subjective assessments.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6882259" y="2019300"/>
            <a:ext cx="470014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Player Valuation</a:t>
            </a:r>
            <a:endParaRPr lang="en-US" sz="1800" dirty="0"/>
          </a:p>
        </p:txBody>
      </p:sp>
      <p:sp>
        <p:nvSpPr>
          <p:cNvPr id="27" name="Text 5"/>
          <p:cNvSpPr/>
          <p:nvPr/>
        </p:nvSpPr>
        <p:spPr>
          <a:xfrm>
            <a:off x="6882259" y="2400300"/>
            <a:ext cx="470014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Assists in estimating fair market value for players, supporting more informed decisions during transfer negotiations and contract renewals.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1047750" y="3848100"/>
            <a:ext cx="5600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Career Development</a:t>
            </a:r>
            <a:endParaRPr lang="en-US" sz="1800" dirty="0"/>
          </a:p>
        </p:txBody>
      </p:sp>
      <p:sp>
        <p:nvSpPr>
          <p:cNvPr id="29" name="Text 7"/>
          <p:cNvSpPr/>
          <p:nvPr/>
        </p:nvSpPr>
        <p:spPr>
          <a:xfrm>
            <a:off x="1047750" y="4229100"/>
            <a:ext cx="46672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track progression of player attributes over time, allowing for targeted training and development programs to maximize potential.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6991350" y="3848100"/>
            <a:ext cx="55092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Subjectivity</a:t>
            </a:r>
            <a:endParaRPr lang="en-US" sz="1800" dirty="0"/>
          </a:p>
        </p:txBody>
      </p:sp>
      <p:sp>
        <p:nvSpPr>
          <p:cNvPr id="31" name="Text 9"/>
          <p:cNvSpPr/>
          <p:nvPr/>
        </p:nvSpPr>
        <p:spPr>
          <a:xfrm>
            <a:off x="6991350" y="4229100"/>
            <a:ext cx="45910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By leveraging machine learning, the model provides an objective, consistent, and data-driven approach to player assessment, reducing inherent subjectivity.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2356812" y="5543550"/>
            <a:ext cx="7717393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decisions lead to better team building and resource allocation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11578977" y="6515100"/>
            <a:ext cx="4613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14/16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5240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5125" y="44291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25730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1676400"/>
            <a:ext cx="4457700" cy="1552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905000"/>
            <a:ext cx="85725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286000"/>
            <a:ext cx="85725" cy="171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667000"/>
            <a:ext cx="85725" cy="1714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771900"/>
            <a:ext cx="4457700" cy="838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3952875"/>
            <a:ext cx="1333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3500" y="1219200"/>
            <a:ext cx="6667500" cy="5257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48300" y="1257300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48300" y="1714500"/>
            <a:ext cx="3105150" cy="1409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00700" y="1905000"/>
            <a:ext cx="39246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82555" y="19812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05850" y="1714500"/>
            <a:ext cx="3105150" cy="1409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8250" y="186690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58263" y="1943100"/>
            <a:ext cx="257175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48300" y="3276600"/>
            <a:ext cx="3105150" cy="1409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00700" y="3467100"/>
            <a:ext cx="430411" cy="457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01605" y="3543300"/>
            <a:ext cx="22860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05850" y="3276600"/>
            <a:ext cx="3105150" cy="1409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8250" y="3429000"/>
            <a:ext cx="457200" cy="457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58263" y="3505200"/>
            <a:ext cx="257175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57200" y="2286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Limitations &amp; Future Work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723900" y="1219200"/>
            <a:ext cx="5349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32" name="Text 2"/>
          <p:cNvSpPr/>
          <p:nvPr/>
        </p:nvSpPr>
        <p:spPr>
          <a:xfrm>
            <a:off x="733425" y="1866900"/>
            <a:ext cx="32241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Limited to static FIFA attributes</a:t>
            </a:r>
            <a:endParaRPr lang="en-US" sz="1350" dirty="0"/>
          </a:p>
        </p:txBody>
      </p:sp>
      <p:sp>
        <p:nvSpPr>
          <p:cNvPr id="33" name="Text 3"/>
          <p:cNvSpPr/>
          <p:nvPr/>
        </p:nvSpPr>
        <p:spPr>
          <a:xfrm>
            <a:off x="733425" y="2247900"/>
            <a:ext cx="40037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real-world match performance data</a:t>
            </a:r>
            <a:endParaRPr lang="en-US" sz="1350" dirty="0"/>
          </a:p>
        </p:txBody>
      </p:sp>
      <p:sp>
        <p:nvSpPr>
          <p:cNvPr id="34" name="Text 4"/>
          <p:cNvSpPr/>
          <p:nvPr/>
        </p:nvSpPr>
        <p:spPr>
          <a:xfrm>
            <a:off x="733425" y="2628900"/>
            <a:ext cx="283517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Doesn't account for injuries</a:t>
            </a:r>
            <a:endParaRPr lang="en-US" sz="1350" dirty="0"/>
          </a:p>
        </p:txBody>
      </p:sp>
      <p:sp>
        <p:nvSpPr>
          <p:cNvPr id="35" name="Text 5"/>
          <p:cNvSpPr/>
          <p:nvPr/>
        </p:nvSpPr>
        <p:spPr>
          <a:xfrm>
            <a:off x="733425" y="3009900"/>
            <a:ext cx="31562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36" name="Text 6"/>
          <p:cNvSpPr/>
          <p:nvPr/>
        </p:nvSpPr>
        <p:spPr>
          <a:xfrm>
            <a:off x="742950" y="3924300"/>
            <a:ext cx="41529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Shows maturity in recognizing model constraints</a:t>
            </a:r>
            <a:endParaRPr lang="en-US" sz="1350" dirty="0"/>
          </a:p>
        </p:txBody>
      </p:sp>
      <p:sp>
        <p:nvSpPr>
          <p:cNvPr id="37" name="Text 7"/>
          <p:cNvSpPr/>
          <p:nvPr/>
        </p:nvSpPr>
        <p:spPr>
          <a:xfrm>
            <a:off x="5791200" y="1219200"/>
            <a:ext cx="6362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38" name="Text 8"/>
          <p:cNvSpPr/>
          <p:nvPr/>
        </p:nvSpPr>
        <p:spPr>
          <a:xfrm>
            <a:off x="6107460" y="1866900"/>
            <a:ext cx="229359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Match Performance Data</a:t>
            </a:r>
            <a:endParaRPr lang="en-US" sz="1500" dirty="0"/>
          </a:p>
        </p:txBody>
      </p:sp>
      <p:sp>
        <p:nvSpPr>
          <p:cNvPr id="39" name="Text 9"/>
          <p:cNvSpPr/>
          <p:nvPr/>
        </p:nvSpPr>
        <p:spPr>
          <a:xfrm>
            <a:off x="5600700" y="2514600"/>
            <a:ext cx="28003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 real-world match stats (goals, assists, tackles)</a:t>
            </a:r>
            <a:endParaRPr lang="en-US" sz="1200" dirty="0"/>
          </a:p>
        </p:txBody>
      </p:sp>
      <p:sp>
        <p:nvSpPr>
          <p:cNvPr id="40" name="Text 10"/>
          <p:cNvSpPr/>
          <p:nvPr/>
        </p:nvSpPr>
        <p:spPr>
          <a:xfrm>
            <a:off x="9429750" y="1962150"/>
            <a:ext cx="17641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Injury History</a:t>
            </a:r>
            <a:endParaRPr lang="en-US" sz="1500" dirty="0"/>
          </a:p>
        </p:txBody>
      </p:sp>
      <p:sp>
        <p:nvSpPr>
          <p:cNvPr id="41" name="Text 11"/>
          <p:cNvSpPr/>
          <p:nvPr/>
        </p:nvSpPr>
        <p:spPr>
          <a:xfrm>
            <a:off x="8858250" y="2438400"/>
            <a:ext cx="28003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 injury data for more accurate predictions</a:t>
            </a:r>
            <a:endParaRPr lang="en-US" sz="1200" dirty="0"/>
          </a:p>
        </p:txBody>
      </p:sp>
      <p:sp>
        <p:nvSpPr>
          <p:cNvPr id="42" name="Text 12"/>
          <p:cNvSpPr/>
          <p:nvPr/>
        </p:nvSpPr>
        <p:spPr>
          <a:xfrm>
            <a:off x="6145411" y="3429000"/>
            <a:ext cx="225563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 Learning Models</a:t>
            </a:r>
            <a:endParaRPr lang="en-US" sz="1500" dirty="0"/>
          </a:p>
        </p:txBody>
      </p:sp>
      <p:sp>
        <p:nvSpPr>
          <p:cNvPr id="43" name="Text 13"/>
          <p:cNvSpPr/>
          <p:nvPr/>
        </p:nvSpPr>
        <p:spPr>
          <a:xfrm>
            <a:off x="5600700" y="4076700"/>
            <a:ext cx="28003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Explore advanced architectures for complex patterns</a:t>
            </a: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9429750" y="3524250"/>
            <a:ext cx="26739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Streamlit Dashboard</a:t>
            </a:r>
            <a:endParaRPr lang="en-US" sz="1500" dirty="0"/>
          </a:p>
        </p:txBody>
      </p:sp>
      <p:sp>
        <p:nvSpPr>
          <p:cNvPr id="45" name="Text 15"/>
          <p:cNvSpPr/>
          <p:nvPr/>
        </p:nvSpPr>
        <p:spPr>
          <a:xfrm>
            <a:off x="8858250" y="4000500"/>
            <a:ext cx="28003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interactive web app for real-time predictions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11578977" y="6515100"/>
            <a:ext cx="4613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15/16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DD539-646D-EBDC-9637-5CFA38556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2BD6F61-70FB-FD7C-8CC3-F525BA810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49222D6D-9987-0845-5B46-00D8D8354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774" y="-35512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A3431001-CBFF-7F97-B1BA-572BC683B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5240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53A69B16-0778-05E5-1D51-0EDA9C316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5125" y="44291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548D4021-A330-3C91-1477-340B759DE5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F2CC8076-5626-6447-616D-DD0B595944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676400"/>
            <a:ext cx="4457700" cy="22860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8580942A-A90D-B404-D035-BAC895015D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905000"/>
            <a:ext cx="85725" cy="17145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B53FF89D-5611-AB37-81A2-778F0164DA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286000"/>
            <a:ext cx="85725" cy="17145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093D4ED5-5929-9DDA-58F1-96D3FDFA0A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667000"/>
            <a:ext cx="85725" cy="17145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1CD91651-A0B5-B8FD-FB49-D4178F0752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4695176"/>
            <a:ext cx="4457700" cy="1781823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CD161044-8132-ED46-BE83-6322700387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655" y="4769158"/>
            <a:ext cx="133350" cy="17145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01B03E65-A4B6-F6E3-0EBC-9C1156C9409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52378" y="1106194"/>
            <a:ext cx="6667500" cy="52578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E29748C8-A698-345B-8FBC-C55907F2A2F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48300" y="1714500"/>
            <a:ext cx="3105150" cy="1409700"/>
          </a:xfrm>
          <a:prstGeom prst="rect">
            <a:avLst/>
          </a:prstGeom>
        </p:spPr>
      </p:pic>
      <p:pic>
        <p:nvPicPr>
          <p:cNvPr id="18" name="Image 16" descr="preencoded.png">
            <a:extLst>
              <a:ext uri="{FF2B5EF4-FFF2-40B4-BE49-F238E27FC236}">
                <a16:creationId xmlns:a16="http://schemas.microsoft.com/office/drawing/2014/main" id="{F69891FA-F063-BF5D-B0C3-1812AF3E136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00700" y="1905000"/>
            <a:ext cx="392460" cy="4572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70042B1D-C7EB-0DA2-E519-2BBBD62ABF4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82555" y="19812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>
            <a:extLst>
              <a:ext uri="{FF2B5EF4-FFF2-40B4-BE49-F238E27FC236}">
                <a16:creationId xmlns:a16="http://schemas.microsoft.com/office/drawing/2014/main" id="{7F0ADDE4-6503-5F9E-ABB7-DA617F500C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5850" y="1714500"/>
            <a:ext cx="3105150" cy="1409700"/>
          </a:xfrm>
          <a:prstGeom prst="rect">
            <a:avLst/>
          </a:prstGeom>
        </p:spPr>
      </p:pic>
      <p:pic>
        <p:nvPicPr>
          <p:cNvPr id="21" name="Image 19" descr="preencoded.png">
            <a:extLst>
              <a:ext uri="{FF2B5EF4-FFF2-40B4-BE49-F238E27FC236}">
                <a16:creationId xmlns:a16="http://schemas.microsoft.com/office/drawing/2014/main" id="{4DDA08F9-98DB-5361-2E3C-DCE83159148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58250" y="1866900"/>
            <a:ext cx="457200" cy="457200"/>
          </a:xfrm>
          <a:prstGeom prst="rect">
            <a:avLst/>
          </a:prstGeom>
        </p:spPr>
      </p:pic>
      <p:pic>
        <p:nvPicPr>
          <p:cNvPr id="23" name="Image 21" descr="preencoded.png">
            <a:extLst>
              <a:ext uri="{FF2B5EF4-FFF2-40B4-BE49-F238E27FC236}">
                <a16:creationId xmlns:a16="http://schemas.microsoft.com/office/drawing/2014/main" id="{92A0C8C5-36CB-A0B2-408B-7EF9FBF3E2A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48300" y="3276600"/>
            <a:ext cx="3105150" cy="1733104"/>
          </a:xfrm>
          <a:prstGeom prst="rect">
            <a:avLst/>
          </a:prstGeom>
        </p:spPr>
      </p:pic>
      <p:pic>
        <p:nvPicPr>
          <p:cNvPr id="24" name="Image 22" descr="preencoded.png">
            <a:extLst>
              <a:ext uri="{FF2B5EF4-FFF2-40B4-BE49-F238E27FC236}">
                <a16:creationId xmlns:a16="http://schemas.microsoft.com/office/drawing/2014/main" id="{FD736944-7D87-0430-7213-DA8450BC80B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00700" y="3467100"/>
            <a:ext cx="430411" cy="457200"/>
          </a:xfrm>
          <a:prstGeom prst="rect">
            <a:avLst/>
          </a:prstGeom>
        </p:spPr>
      </p:pic>
      <p:pic>
        <p:nvPicPr>
          <p:cNvPr id="25" name="Image 23" descr="preencoded.png">
            <a:extLst>
              <a:ext uri="{FF2B5EF4-FFF2-40B4-BE49-F238E27FC236}">
                <a16:creationId xmlns:a16="http://schemas.microsoft.com/office/drawing/2014/main" id="{1971FB7D-1A86-AA63-79FF-9FD9CF0F3E7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01605" y="3543300"/>
            <a:ext cx="228600" cy="304800"/>
          </a:xfrm>
          <a:prstGeom prst="rect">
            <a:avLst/>
          </a:prstGeom>
        </p:spPr>
      </p:pic>
      <p:pic>
        <p:nvPicPr>
          <p:cNvPr id="26" name="Image 24" descr="preencoded.png">
            <a:extLst>
              <a:ext uri="{FF2B5EF4-FFF2-40B4-BE49-F238E27FC236}">
                <a16:creationId xmlns:a16="http://schemas.microsoft.com/office/drawing/2014/main" id="{E59D44D0-6DF7-2B49-B6EC-80EEBA106AA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5850" y="3276600"/>
            <a:ext cx="3105150" cy="1733104"/>
          </a:xfrm>
          <a:prstGeom prst="rect">
            <a:avLst/>
          </a:prstGeom>
        </p:spPr>
      </p:pic>
      <p:pic>
        <p:nvPicPr>
          <p:cNvPr id="27" name="Image 25" descr="preencoded.png">
            <a:extLst>
              <a:ext uri="{FF2B5EF4-FFF2-40B4-BE49-F238E27FC236}">
                <a16:creationId xmlns:a16="http://schemas.microsoft.com/office/drawing/2014/main" id="{88C97417-2C9A-39C4-60EC-A8FA6AF57AF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58250" y="3429000"/>
            <a:ext cx="457200" cy="457200"/>
          </a:xfrm>
          <a:prstGeom prst="rect">
            <a:avLst/>
          </a:prstGeom>
        </p:spPr>
      </p:pic>
      <p:pic>
        <p:nvPicPr>
          <p:cNvPr id="28" name="Image 26" descr="preencoded.png">
            <a:extLst>
              <a:ext uri="{FF2B5EF4-FFF2-40B4-BE49-F238E27FC236}">
                <a16:creationId xmlns:a16="http://schemas.microsoft.com/office/drawing/2014/main" id="{F791A642-F764-32A4-CBBC-133F486A2BD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58263" y="3505200"/>
            <a:ext cx="257175" cy="304800"/>
          </a:xfrm>
          <a:prstGeom prst="rect">
            <a:avLst/>
          </a:prstGeom>
        </p:spPr>
      </p:pic>
      <p:pic>
        <p:nvPicPr>
          <p:cNvPr id="29" name="Image 27" descr="preencoded.png">
            <a:extLst>
              <a:ext uri="{FF2B5EF4-FFF2-40B4-BE49-F238E27FC236}">
                <a16:creationId xmlns:a16="http://schemas.microsoft.com/office/drawing/2014/main" id="{2251AC56-4CDA-1BD9-A308-B0CE64BE72A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0" name="Text 0">
            <a:extLst>
              <a:ext uri="{FF2B5EF4-FFF2-40B4-BE49-F238E27FC236}">
                <a16:creationId xmlns:a16="http://schemas.microsoft.com/office/drawing/2014/main" id="{2CC8D063-2272-B955-860F-B7DBE8F1E61B}"/>
              </a:ext>
            </a:extLst>
          </p:cNvPr>
          <p:cNvSpPr/>
          <p:nvPr/>
        </p:nvSpPr>
        <p:spPr>
          <a:xfrm>
            <a:off x="204186" y="114301"/>
            <a:ext cx="11949714" cy="5333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Deployment : My project is not just a notebook it's a fully deployed AI application.</a:t>
            </a: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C4DF52BB-820D-82EE-DC07-93268A95D9D5}"/>
              </a:ext>
            </a:extLst>
          </p:cNvPr>
          <p:cNvSpPr/>
          <p:nvPr/>
        </p:nvSpPr>
        <p:spPr>
          <a:xfrm>
            <a:off x="741656" y="1219200"/>
            <a:ext cx="5349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Full-Stack Architecture</a:t>
            </a:r>
            <a:endParaRPr lang="en-US" sz="180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C801F90F-966F-DB17-AA77-52A402CC61C9}"/>
              </a:ext>
            </a:extLst>
          </p:cNvPr>
          <p:cNvSpPr/>
          <p:nvPr/>
        </p:nvSpPr>
        <p:spPr>
          <a:xfrm>
            <a:off x="733425" y="1866900"/>
            <a:ext cx="32241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Frontend: React web application</a:t>
            </a: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519B81EF-3597-FC81-DE7C-F58E0C4A4F45}"/>
              </a:ext>
            </a:extLst>
          </p:cNvPr>
          <p:cNvSpPr/>
          <p:nvPr/>
        </p:nvSpPr>
        <p:spPr>
          <a:xfrm>
            <a:off x="733425" y="2247900"/>
            <a:ext cx="40037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Backend API: Hugging Face Inference Endpoint</a:t>
            </a: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016238E3-C446-B1FD-8A25-2E8114D6CD7E}"/>
              </a:ext>
            </a:extLst>
          </p:cNvPr>
          <p:cNvSpPr/>
          <p:nvPr/>
        </p:nvSpPr>
        <p:spPr>
          <a:xfrm>
            <a:off x="733424" y="2628900"/>
            <a:ext cx="40037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Model: Trained ML model hosted on Hugging Face</a:t>
            </a: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682829F7-873B-CD37-844B-B77FFCD84335}"/>
              </a:ext>
            </a:extLst>
          </p:cNvPr>
          <p:cNvSpPr/>
          <p:nvPr/>
        </p:nvSpPr>
        <p:spPr>
          <a:xfrm>
            <a:off x="733425" y="3009900"/>
            <a:ext cx="31562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7B8DC725-1F50-0EC1-E8BA-9360D0662CF1}"/>
              </a:ext>
            </a:extLst>
          </p:cNvPr>
          <p:cNvSpPr/>
          <p:nvPr/>
        </p:nvSpPr>
        <p:spPr>
          <a:xfrm>
            <a:off x="742950" y="3924300"/>
            <a:ext cx="41529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36E45E6A-C9C9-6586-35FE-1ADAAD83321C}"/>
              </a:ext>
            </a:extLst>
          </p:cNvPr>
          <p:cNvSpPr/>
          <p:nvPr/>
        </p:nvSpPr>
        <p:spPr>
          <a:xfrm>
            <a:off x="5791200" y="1219200"/>
            <a:ext cx="6362700" cy="304800"/>
          </a:xfrm>
          <a:prstGeom prst="rect">
            <a:avLst/>
          </a:prstGeom>
        </p:spPr>
        <p:txBody>
          <a:bodyPr vert="horz"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Technical Breakdown</a:t>
            </a:r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18F6282A-50A6-7DD6-DBAF-A1F9F31C439E}"/>
              </a:ext>
            </a:extLst>
          </p:cNvPr>
          <p:cNvSpPr/>
          <p:nvPr/>
        </p:nvSpPr>
        <p:spPr>
          <a:xfrm>
            <a:off x="6107460" y="1866900"/>
            <a:ext cx="229359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Frontend (React)</a:t>
            </a:r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0440EA5C-BF3C-A48E-57F9-47225B081B41}"/>
              </a:ext>
            </a:extLst>
          </p:cNvPr>
          <p:cNvSpPr/>
          <p:nvPr/>
        </p:nvSpPr>
        <p:spPr>
          <a:xfrm>
            <a:off x="5600700" y="2514600"/>
            <a:ext cx="28003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Clean UI for entering player attributes</a:t>
            </a: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85C150FF-DC14-BC97-CF2D-63DD240354F5}"/>
              </a:ext>
            </a:extLst>
          </p:cNvPr>
          <p:cNvSpPr/>
          <p:nvPr/>
        </p:nvSpPr>
        <p:spPr>
          <a:xfrm>
            <a:off x="9429749" y="1962150"/>
            <a:ext cx="247198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Backend (Hugging Face):</a:t>
            </a: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A8872655-B42C-6C2B-6FDE-7E3CDAEBFC6D}"/>
              </a:ext>
            </a:extLst>
          </p:cNvPr>
          <p:cNvSpPr/>
          <p:nvPr/>
        </p:nvSpPr>
        <p:spPr>
          <a:xfrm>
            <a:off x="8858250" y="2438400"/>
            <a:ext cx="28003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 injury data for more accurate predictions</a:t>
            </a:r>
            <a:endParaRPr lang="en-US" sz="1200" dirty="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94FD254C-2522-FCF2-72B6-921E603A716C}"/>
              </a:ext>
            </a:extLst>
          </p:cNvPr>
          <p:cNvSpPr/>
          <p:nvPr/>
        </p:nvSpPr>
        <p:spPr>
          <a:xfrm>
            <a:off x="6145411" y="3429000"/>
            <a:ext cx="225563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What This Demonstrates</a:t>
            </a: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09469479-0B17-80FF-011C-4AE56E70C611}"/>
              </a:ext>
            </a:extLst>
          </p:cNvPr>
          <p:cNvSpPr/>
          <p:nvPr/>
        </p:nvSpPr>
        <p:spPr>
          <a:xfrm>
            <a:off x="5600700" y="3977491"/>
            <a:ext cx="2923528" cy="4611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</a:rPr>
              <a:t>Ability to move from notebook → production-grade app</a:t>
            </a:r>
            <a:endParaRPr lang="ar-EG" sz="1200" dirty="0">
              <a:solidFill>
                <a:srgbClr val="E5E7EB"/>
              </a:solidFill>
              <a:latin typeface="ui-sans-serif" pitchFamily="34" charset="0"/>
              <a:ea typeface="ui-sans-serif" pitchFamily="34" charset="-122"/>
            </a:endParaRP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</a:rPr>
              <a:t>Real-world readiness for Data Scientist / ML Engineer roles</a:t>
            </a:r>
          </a:p>
          <a:p>
            <a:pPr>
              <a:lnSpc>
                <a:spcPts val="1800"/>
              </a:lnSpc>
            </a:pPr>
            <a:endParaRPr lang="en-US" sz="1200" dirty="0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729C866E-8F75-55D7-EF76-3977644BDC3C}"/>
              </a:ext>
            </a:extLst>
          </p:cNvPr>
          <p:cNvSpPr/>
          <p:nvPr/>
        </p:nvSpPr>
        <p:spPr>
          <a:xfrm>
            <a:off x="9429750" y="3524250"/>
            <a:ext cx="26739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Power BI Dashboard</a:t>
            </a:r>
            <a:endParaRPr lang="en-US" sz="150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843393DB-9C04-7EED-A8AD-EE1B3698C18C}"/>
              </a:ext>
            </a:extLst>
          </p:cNvPr>
          <p:cNvSpPr/>
          <p:nvPr/>
        </p:nvSpPr>
        <p:spPr>
          <a:xfrm>
            <a:off x="8858250" y="4000500"/>
            <a:ext cx="28003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interactive Dashboard for real-time predictions</a:t>
            </a:r>
            <a:endParaRPr lang="en-US" sz="1200" dirty="0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D93D1939-590A-B24F-D999-15185DE249AB}"/>
              </a:ext>
            </a:extLst>
          </p:cNvPr>
          <p:cNvSpPr/>
          <p:nvPr/>
        </p:nvSpPr>
        <p:spPr>
          <a:xfrm>
            <a:off x="11578977" y="6515100"/>
            <a:ext cx="4613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15/16</a:t>
            </a:r>
            <a:endParaRPr lang="en-US" sz="105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0CCCCD-E09E-4A8E-4AE2-1A39D439B838}"/>
              </a:ext>
            </a:extLst>
          </p:cNvPr>
          <p:cNvSpPr txBox="1"/>
          <p:nvPr/>
        </p:nvSpPr>
        <p:spPr>
          <a:xfrm>
            <a:off x="221942" y="1196289"/>
            <a:ext cx="443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🌐</a:t>
            </a:r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6D86AFE2-19BE-DF2D-ED8A-D18D8A655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448014" y="5200204"/>
            <a:ext cx="13662415" cy="7552947"/>
          </a:xfrm>
          <a:prstGeom prst="rect">
            <a:avLst/>
          </a:prstGeom>
        </p:spPr>
      </p:pic>
      <p:pic>
        <p:nvPicPr>
          <p:cNvPr id="50" name="Image 9" descr="preencoded.png">
            <a:extLst>
              <a:ext uri="{FF2B5EF4-FFF2-40B4-BE49-F238E27FC236}">
                <a16:creationId xmlns:a16="http://schemas.microsoft.com/office/drawing/2014/main" id="{72CAEC1E-FBEF-87AC-5138-E59E1D6EEC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220" y="2996954"/>
            <a:ext cx="85725" cy="171450"/>
          </a:xfrm>
          <a:prstGeom prst="rect">
            <a:avLst/>
          </a:prstGeom>
        </p:spPr>
      </p:pic>
      <p:sp>
        <p:nvSpPr>
          <p:cNvPr id="51" name="Text 4">
            <a:extLst>
              <a:ext uri="{FF2B5EF4-FFF2-40B4-BE49-F238E27FC236}">
                <a16:creationId xmlns:a16="http://schemas.microsoft.com/office/drawing/2014/main" id="{563CD499-9AA5-E741-620A-658E9C2DEE41}"/>
              </a:ext>
            </a:extLst>
          </p:cNvPr>
          <p:cNvSpPr/>
          <p:nvPr/>
        </p:nvSpPr>
        <p:spPr>
          <a:xfrm>
            <a:off x="708266" y="2958854"/>
            <a:ext cx="4130434" cy="3939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Integration: React sends player data → API returns predicted overall rating</a:t>
            </a:r>
          </a:p>
          <a:p>
            <a:pPr>
              <a:lnSpc>
                <a:spcPts val="2100"/>
              </a:lnSpc>
            </a:pPr>
            <a:endParaRPr lang="en-US" sz="1350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</a:endParaRPr>
          </a:p>
        </p:txBody>
      </p:sp>
      <p:pic>
        <p:nvPicPr>
          <p:cNvPr id="52" name="Image 9" descr="preencoded.png">
            <a:extLst>
              <a:ext uri="{FF2B5EF4-FFF2-40B4-BE49-F238E27FC236}">
                <a16:creationId xmlns:a16="http://schemas.microsoft.com/office/drawing/2014/main" id="{C4380F0F-A214-AE86-B08B-642CD69A6A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717" y="3618395"/>
            <a:ext cx="85725" cy="171450"/>
          </a:xfrm>
          <a:prstGeom prst="rect">
            <a:avLst/>
          </a:prstGeom>
        </p:spPr>
      </p:pic>
      <p:sp>
        <p:nvSpPr>
          <p:cNvPr id="53" name="Text 4">
            <a:extLst>
              <a:ext uri="{FF2B5EF4-FFF2-40B4-BE49-F238E27FC236}">
                <a16:creationId xmlns:a16="http://schemas.microsoft.com/office/drawing/2014/main" id="{0BFD0945-2CF4-5B46-D3F1-326B11DB1269}"/>
              </a:ext>
            </a:extLst>
          </p:cNvPr>
          <p:cNvSpPr/>
          <p:nvPr/>
        </p:nvSpPr>
        <p:spPr>
          <a:xfrm>
            <a:off x="681641" y="3580295"/>
            <a:ext cx="40037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Result: A real-time, interactive prediction system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1EE5BA-B651-3BF2-B881-C7554B616BE7}"/>
              </a:ext>
            </a:extLst>
          </p:cNvPr>
          <p:cNvSpPr txBox="1"/>
          <p:nvPr/>
        </p:nvSpPr>
        <p:spPr>
          <a:xfrm>
            <a:off x="596606" y="4682431"/>
            <a:ext cx="6778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This Shows</a:t>
            </a:r>
          </a:p>
        </p:txBody>
      </p:sp>
      <p:sp>
        <p:nvSpPr>
          <p:cNvPr id="57" name="Rectangle 2">
            <a:extLst>
              <a:ext uri="{FF2B5EF4-FFF2-40B4-BE49-F238E27FC236}">
                <a16:creationId xmlns:a16="http://schemas.microsoft.com/office/drawing/2014/main" id="{DF4EBCA8-8604-90A6-4341-BF8D5498D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126" y="4970418"/>
            <a:ext cx="4014005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End-to-end Data Science + Software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Ability to deploy ML models into a real app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Knowledge of modern tools: React, REST APIs, Hugging 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Real impact: Notebooks → production-ready AI system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73228D-40D0-3D01-2F44-B5D6D0143BBA}"/>
              </a:ext>
            </a:extLst>
          </p:cNvPr>
          <p:cNvSpPr txBox="1"/>
          <p:nvPr/>
        </p:nvSpPr>
        <p:spPr>
          <a:xfrm>
            <a:off x="5357269" y="1171113"/>
            <a:ext cx="257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🛠</a:t>
            </a:r>
          </a:p>
        </p:txBody>
      </p:sp>
    </p:spTree>
    <p:extLst>
      <p:ext uri="{BB962C8B-B14F-4D97-AF65-F5344CB8AC3E}">
        <p14:creationId xmlns:p14="http://schemas.microsoft.com/office/powerpoint/2010/main" val="3969066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125" y="7620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5495925"/>
            <a:ext cx="142875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524000"/>
            <a:ext cx="142875" cy="1428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5125" y="5953125"/>
            <a:ext cx="142875" cy="1428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651" y="2209800"/>
            <a:ext cx="91440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7045" y="3238500"/>
            <a:ext cx="8181975" cy="1676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9099" y="3505200"/>
            <a:ext cx="3048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50557" y="3505200"/>
            <a:ext cx="333375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4447" y="3505200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1379637" y="1333500"/>
            <a:ext cx="9432578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4CAF5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Thank You!</a:t>
            </a:r>
            <a:endParaRPr lang="en-US" sz="4500" dirty="0"/>
          </a:p>
        </p:txBody>
      </p:sp>
      <p:sp>
        <p:nvSpPr>
          <p:cNvPr id="15" name="Text 1"/>
          <p:cNvSpPr/>
          <p:nvPr/>
        </p:nvSpPr>
        <p:spPr>
          <a:xfrm>
            <a:off x="436379" y="2552700"/>
            <a:ext cx="113190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Feel free to reach out with any questions about the FIFA 23 Player Overall Rating Prediction project</a:t>
            </a:r>
            <a:endParaRPr lang="en-US" sz="1500" dirty="0"/>
          </a:p>
        </p:txBody>
      </p:sp>
      <p:sp>
        <p:nvSpPr>
          <p:cNvPr id="16" name="Text 2"/>
          <p:cNvSpPr/>
          <p:nvPr/>
        </p:nvSpPr>
        <p:spPr>
          <a:xfrm>
            <a:off x="2667000" y="4038600"/>
            <a:ext cx="107632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Mazen Hisham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4382094" y="4038600"/>
            <a:ext cx="293310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GitHub: https://github.com/MazenHisham1</a:t>
            </a:r>
            <a:endParaRPr lang="en-US" sz="1500" dirty="0"/>
          </a:p>
        </p:txBody>
      </p:sp>
      <p:sp>
        <p:nvSpPr>
          <p:cNvPr id="18" name="Text 4"/>
          <p:cNvSpPr/>
          <p:nvPr/>
        </p:nvSpPr>
        <p:spPr>
          <a:xfrm>
            <a:off x="7591426" y="4038600"/>
            <a:ext cx="2600324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Email: </a:t>
            </a:r>
          </a:p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mazenelkala47@gmail.com</a:t>
            </a:r>
            <a:endParaRPr lang="en-US" sz="1500" dirty="0"/>
          </a:p>
        </p:txBody>
      </p:sp>
      <p:sp>
        <p:nvSpPr>
          <p:cNvPr id="19" name="Text 5"/>
          <p:cNvSpPr/>
          <p:nvPr/>
        </p:nvSpPr>
        <p:spPr>
          <a:xfrm>
            <a:off x="1379637" y="5257800"/>
            <a:ext cx="943257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Presentation Date: 2025-11-18</a:t>
            </a:r>
            <a:endParaRPr lang="en-US" sz="1350" dirty="0"/>
          </a:p>
        </p:txBody>
      </p:sp>
      <p:sp>
        <p:nvSpPr>
          <p:cNvPr id="20" name="Text 6"/>
          <p:cNvSpPr/>
          <p:nvPr/>
        </p:nvSpPr>
        <p:spPr>
          <a:xfrm>
            <a:off x="11578977" y="6515100"/>
            <a:ext cx="4613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16/16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1376</Words>
  <Application>Microsoft Office PowerPoint</Application>
  <PresentationFormat>Widescreen</PresentationFormat>
  <Paragraphs>337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ui-monospace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Mazen Hisham Mostafa</cp:lastModifiedBy>
  <cp:revision>3</cp:revision>
  <dcterms:created xsi:type="dcterms:W3CDTF">2025-11-17T19:29:40Z</dcterms:created>
  <dcterms:modified xsi:type="dcterms:W3CDTF">2025-11-17T21:28:56Z</dcterms:modified>
</cp:coreProperties>
</file>